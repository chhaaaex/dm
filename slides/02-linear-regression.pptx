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58" r:id="rId4"/>
    <p:sldId id="259" r:id="rId5"/>
    <p:sldId id="275" r:id="rId6"/>
    <p:sldId id="260" r:id="rId7"/>
    <p:sldId id="327" r:id="rId8"/>
    <p:sldId id="266" r:id="rId9"/>
    <p:sldId id="267" r:id="rId10"/>
    <p:sldId id="268" r:id="rId11"/>
    <p:sldId id="269" r:id="rId12"/>
    <p:sldId id="271" r:id="rId13"/>
    <p:sldId id="328" r:id="rId14"/>
    <p:sldId id="270" r:id="rId15"/>
    <p:sldId id="272" r:id="rId16"/>
    <p:sldId id="262" r:id="rId17"/>
    <p:sldId id="273"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326" r:id="rId42"/>
    <p:sldId id="298" r:id="rId43"/>
    <p:sldId id="299" r:id="rId44"/>
    <p:sldId id="300" r:id="rId45"/>
    <p:sldId id="301" r:id="rId46"/>
    <p:sldId id="302" r:id="rId47"/>
    <p:sldId id="303" r:id="rId48"/>
    <p:sldId id="306" r:id="rId49"/>
    <p:sldId id="307" r:id="rId50"/>
    <p:sldId id="308" r:id="rId51"/>
    <p:sldId id="310" r:id="rId52"/>
    <p:sldId id="309" r:id="rId53"/>
    <p:sldId id="311" r:id="rId54"/>
    <p:sldId id="312" r:id="rId55"/>
    <p:sldId id="320" r:id="rId56"/>
    <p:sldId id="314" r:id="rId57"/>
    <p:sldId id="316" r:id="rId58"/>
    <p:sldId id="317" r:id="rId59"/>
    <p:sldId id="318" r:id="rId60"/>
    <p:sldId id="319" r:id="rId61"/>
    <p:sldId id="315" r:id="rId62"/>
    <p:sldId id="321" r:id="rId63"/>
    <p:sldId id="323" r:id="rId64"/>
    <p:sldId id="324" r:id="rId65"/>
    <p:sldId id="325"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26"/>
  </p:normalViewPr>
  <p:slideViewPr>
    <p:cSldViewPr snapToGrid="0">
      <p:cViewPr varScale="1">
        <p:scale>
          <a:sx n="120" d="100"/>
          <a:sy n="120" d="100"/>
        </p:scale>
        <p:origin x="3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 Comuzzi" userId="d1ae8bfba2bd606f" providerId="LiveId" clId="{339ADD7F-95C6-5CA4-9ED0-87379413A5E1}"/>
    <pc:docChg chg="undo custSel modSld">
      <pc:chgData name="Marco Comuzzi" userId="d1ae8bfba2bd606f" providerId="LiveId" clId="{339ADD7F-95C6-5CA4-9ED0-87379413A5E1}" dt="2026-09-03T00:44:57.528" v="20" actId="478"/>
      <pc:docMkLst>
        <pc:docMk/>
      </pc:docMkLst>
      <pc:sldChg chg="delSp mod">
        <pc:chgData name="Marco Comuzzi" userId="d1ae8bfba2bd606f" providerId="LiveId" clId="{339ADD7F-95C6-5CA4-9ED0-87379413A5E1}" dt="2026-09-03T00:44:57.528" v="20" actId="478"/>
        <pc:sldMkLst>
          <pc:docMk/>
          <pc:sldMk cId="2123867452" sldId="256"/>
        </pc:sldMkLst>
        <pc:inkChg chg="del">
          <ac:chgData name="Marco Comuzzi" userId="d1ae8bfba2bd606f" providerId="LiveId" clId="{339ADD7F-95C6-5CA4-9ED0-87379413A5E1}" dt="2026-09-03T00:44:57.528" v="20" actId="478"/>
          <ac:inkMkLst>
            <pc:docMk/>
            <pc:sldMk cId="2123867452" sldId="256"/>
            <ac:inkMk id="4" creationId="{8783D9D0-D394-2682-8D7C-1C6EA399A2BC}"/>
          </ac:inkMkLst>
        </pc:inkChg>
      </pc:sldChg>
      <pc:sldChg chg="delSp mod">
        <pc:chgData name="Marco Comuzzi" userId="d1ae8bfba2bd606f" providerId="LiveId" clId="{339ADD7F-95C6-5CA4-9ED0-87379413A5E1}" dt="2026-09-03T00:39:53.370" v="0" actId="478"/>
        <pc:sldMkLst>
          <pc:docMk/>
          <pc:sldMk cId="1780793015" sldId="262"/>
        </pc:sldMkLst>
        <pc:inkChg chg="del">
          <ac:chgData name="Marco Comuzzi" userId="d1ae8bfba2bd606f" providerId="LiveId" clId="{339ADD7F-95C6-5CA4-9ED0-87379413A5E1}" dt="2026-09-03T00:39:53.370" v="0" actId="478"/>
          <ac:inkMkLst>
            <pc:docMk/>
            <pc:sldMk cId="1780793015" sldId="262"/>
            <ac:inkMk id="9" creationId="{2CCD6173-2F1D-0C86-704A-49AFCD6E4478}"/>
          </ac:inkMkLst>
        </pc:inkChg>
      </pc:sldChg>
      <pc:sldChg chg="delSp modSp mod">
        <pc:chgData name="Marco Comuzzi" userId="d1ae8bfba2bd606f" providerId="LiveId" clId="{339ADD7F-95C6-5CA4-9ED0-87379413A5E1}" dt="2026-09-03T00:39:56.923" v="2" actId="478"/>
        <pc:sldMkLst>
          <pc:docMk/>
          <pc:sldMk cId="742487994" sldId="270"/>
        </pc:sldMkLst>
        <pc:inkChg chg="del mod">
          <ac:chgData name="Marco Comuzzi" userId="d1ae8bfba2bd606f" providerId="LiveId" clId="{339ADD7F-95C6-5CA4-9ED0-87379413A5E1}" dt="2026-09-03T00:39:56.923" v="2" actId="478"/>
          <ac:inkMkLst>
            <pc:docMk/>
            <pc:sldMk cId="742487994" sldId="270"/>
            <ac:inkMk id="8" creationId="{7A546E03-F3D8-78F2-3227-97B07A7A908B}"/>
          </ac:inkMkLst>
        </pc:inkChg>
      </pc:sldChg>
      <pc:sldChg chg="modSp mod">
        <pc:chgData name="Marco Comuzzi" userId="d1ae8bfba2bd606f" providerId="LiveId" clId="{339ADD7F-95C6-5CA4-9ED0-87379413A5E1}" dt="2026-09-03T00:40:11.287" v="3" actId="14100"/>
        <pc:sldMkLst>
          <pc:docMk/>
          <pc:sldMk cId="3265986155" sldId="273"/>
        </pc:sldMkLst>
        <pc:spChg chg="mod">
          <ac:chgData name="Marco Comuzzi" userId="d1ae8bfba2bd606f" providerId="LiveId" clId="{339ADD7F-95C6-5CA4-9ED0-87379413A5E1}" dt="2026-09-03T00:40:11.287" v="3" actId="14100"/>
          <ac:spMkLst>
            <pc:docMk/>
            <pc:sldMk cId="3265986155" sldId="273"/>
            <ac:spMk id="3" creationId="{F40B58C8-397A-4C1D-0511-D77B54093A08}"/>
          </ac:spMkLst>
        </pc:spChg>
      </pc:sldChg>
      <pc:sldChg chg="delSp mod">
        <pc:chgData name="Marco Comuzzi" userId="d1ae8bfba2bd606f" providerId="LiveId" clId="{339ADD7F-95C6-5CA4-9ED0-87379413A5E1}" dt="2026-09-03T00:40:16.077" v="4" actId="478"/>
        <pc:sldMkLst>
          <pc:docMk/>
          <pc:sldMk cId="1934286955" sldId="274"/>
        </pc:sldMkLst>
        <pc:inkChg chg="del">
          <ac:chgData name="Marco Comuzzi" userId="d1ae8bfba2bd606f" providerId="LiveId" clId="{339ADD7F-95C6-5CA4-9ED0-87379413A5E1}" dt="2026-09-03T00:40:16.077" v="4" actId="478"/>
          <ac:inkMkLst>
            <pc:docMk/>
            <pc:sldMk cId="1934286955" sldId="274"/>
            <ac:inkMk id="6" creationId="{DCF317F8-C085-6614-B82A-285598FE8BA6}"/>
          </ac:inkMkLst>
        </pc:inkChg>
      </pc:sldChg>
      <pc:sldChg chg="delSp mod">
        <pc:chgData name="Marco Comuzzi" userId="d1ae8bfba2bd606f" providerId="LiveId" clId="{339ADD7F-95C6-5CA4-9ED0-87379413A5E1}" dt="2026-09-03T00:40:25.086" v="5" actId="478"/>
        <pc:sldMkLst>
          <pc:docMk/>
          <pc:sldMk cId="3859521476" sldId="278"/>
        </pc:sldMkLst>
        <pc:inkChg chg="del">
          <ac:chgData name="Marco Comuzzi" userId="d1ae8bfba2bd606f" providerId="LiveId" clId="{339ADD7F-95C6-5CA4-9ED0-87379413A5E1}" dt="2026-09-03T00:40:25.086" v="5" actId="478"/>
          <ac:inkMkLst>
            <pc:docMk/>
            <pc:sldMk cId="3859521476" sldId="278"/>
            <ac:inkMk id="6" creationId="{B8B0B1B1-68B9-87BF-EC61-5C08CAFBC27E}"/>
          </ac:inkMkLst>
        </pc:inkChg>
      </pc:sldChg>
      <pc:sldChg chg="delSp mod">
        <pc:chgData name="Marco Comuzzi" userId="d1ae8bfba2bd606f" providerId="LiveId" clId="{339ADD7F-95C6-5CA4-9ED0-87379413A5E1}" dt="2026-09-03T00:41:17.557" v="6" actId="478"/>
        <pc:sldMkLst>
          <pc:docMk/>
          <pc:sldMk cId="3657980526" sldId="280"/>
        </pc:sldMkLst>
        <pc:inkChg chg="del">
          <ac:chgData name="Marco Comuzzi" userId="d1ae8bfba2bd606f" providerId="LiveId" clId="{339ADD7F-95C6-5CA4-9ED0-87379413A5E1}" dt="2026-09-03T00:41:17.557" v="6" actId="478"/>
          <ac:inkMkLst>
            <pc:docMk/>
            <pc:sldMk cId="3657980526" sldId="280"/>
            <ac:inkMk id="8" creationId="{25264EA3-9203-2388-DB00-E3D69E171748}"/>
          </ac:inkMkLst>
        </pc:inkChg>
      </pc:sldChg>
      <pc:sldChg chg="delSp mod">
        <pc:chgData name="Marco Comuzzi" userId="d1ae8bfba2bd606f" providerId="LiveId" clId="{339ADD7F-95C6-5CA4-9ED0-87379413A5E1}" dt="2026-09-03T00:41:36.224" v="7" actId="478"/>
        <pc:sldMkLst>
          <pc:docMk/>
          <pc:sldMk cId="1199440469" sldId="281"/>
        </pc:sldMkLst>
        <pc:inkChg chg="del">
          <ac:chgData name="Marco Comuzzi" userId="d1ae8bfba2bd606f" providerId="LiveId" clId="{339ADD7F-95C6-5CA4-9ED0-87379413A5E1}" dt="2026-09-03T00:41:36.224" v="7" actId="478"/>
          <ac:inkMkLst>
            <pc:docMk/>
            <pc:sldMk cId="1199440469" sldId="281"/>
            <ac:inkMk id="4" creationId="{1C7021FD-F8E8-8981-9865-D198E9DA355F}"/>
          </ac:inkMkLst>
        </pc:inkChg>
      </pc:sldChg>
      <pc:sldChg chg="delSp mod">
        <pc:chgData name="Marco Comuzzi" userId="d1ae8bfba2bd606f" providerId="LiveId" clId="{339ADD7F-95C6-5CA4-9ED0-87379413A5E1}" dt="2026-09-03T00:41:51.267" v="8" actId="478"/>
        <pc:sldMkLst>
          <pc:docMk/>
          <pc:sldMk cId="227063646" sldId="283"/>
        </pc:sldMkLst>
        <pc:inkChg chg="del">
          <ac:chgData name="Marco Comuzzi" userId="d1ae8bfba2bd606f" providerId="LiveId" clId="{339ADD7F-95C6-5CA4-9ED0-87379413A5E1}" dt="2026-09-03T00:41:51.267" v="8" actId="478"/>
          <ac:inkMkLst>
            <pc:docMk/>
            <pc:sldMk cId="227063646" sldId="283"/>
            <ac:inkMk id="4" creationId="{CDE98E1F-19AE-0CEF-F171-26F41FC09ABA}"/>
          </ac:inkMkLst>
        </pc:inkChg>
      </pc:sldChg>
      <pc:sldChg chg="addSp delSp modSp mod">
        <pc:chgData name="Marco Comuzzi" userId="d1ae8bfba2bd606f" providerId="LiveId" clId="{339ADD7F-95C6-5CA4-9ED0-87379413A5E1}" dt="2026-09-03T00:42:01.536" v="11" actId="478"/>
        <pc:sldMkLst>
          <pc:docMk/>
          <pc:sldMk cId="2194857453" sldId="284"/>
        </pc:sldMkLst>
        <pc:spChg chg="add del">
          <ac:chgData name="Marco Comuzzi" userId="d1ae8bfba2bd606f" providerId="LiveId" clId="{339ADD7F-95C6-5CA4-9ED0-87379413A5E1}" dt="2026-09-03T00:41:59.160" v="10" actId="478"/>
          <ac:spMkLst>
            <pc:docMk/>
            <pc:sldMk cId="2194857453" sldId="284"/>
            <ac:spMk id="2" creationId="{BCBD1EE9-1673-286D-31EA-1049ED793A00}"/>
          </ac:spMkLst>
        </pc:spChg>
        <pc:spChg chg="add del mod">
          <ac:chgData name="Marco Comuzzi" userId="d1ae8bfba2bd606f" providerId="LiveId" clId="{339ADD7F-95C6-5CA4-9ED0-87379413A5E1}" dt="2026-09-03T00:41:59.160" v="10" actId="478"/>
          <ac:spMkLst>
            <pc:docMk/>
            <pc:sldMk cId="2194857453" sldId="284"/>
            <ac:spMk id="7" creationId="{9678FCE2-9423-3EDE-47E7-885001F85709}"/>
          </ac:spMkLst>
        </pc:spChg>
        <pc:inkChg chg="del">
          <ac:chgData name="Marco Comuzzi" userId="d1ae8bfba2bd606f" providerId="LiveId" clId="{339ADD7F-95C6-5CA4-9ED0-87379413A5E1}" dt="2026-09-03T00:42:01.536" v="11" actId="478"/>
          <ac:inkMkLst>
            <pc:docMk/>
            <pc:sldMk cId="2194857453" sldId="284"/>
            <ac:inkMk id="5" creationId="{CFB43000-A14E-B54F-317D-8C63ED16385E}"/>
          </ac:inkMkLst>
        </pc:inkChg>
      </pc:sldChg>
      <pc:sldChg chg="delSp mod">
        <pc:chgData name="Marco Comuzzi" userId="d1ae8bfba2bd606f" providerId="LiveId" clId="{339ADD7F-95C6-5CA4-9ED0-87379413A5E1}" dt="2026-09-03T00:42:23.402" v="12" actId="478"/>
        <pc:sldMkLst>
          <pc:docMk/>
          <pc:sldMk cId="875995000" sldId="287"/>
        </pc:sldMkLst>
        <pc:inkChg chg="del">
          <ac:chgData name="Marco Comuzzi" userId="d1ae8bfba2bd606f" providerId="LiveId" clId="{339ADD7F-95C6-5CA4-9ED0-87379413A5E1}" dt="2026-09-03T00:42:23.402" v="12" actId="478"/>
          <ac:inkMkLst>
            <pc:docMk/>
            <pc:sldMk cId="875995000" sldId="287"/>
            <ac:inkMk id="6" creationId="{AC223021-61E8-4DDC-6EC3-0C6990CF9587}"/>
          </ac:inkMkLst>
        </pc:inkChg>
      </pc:sldChg>
      <pc:sldChg chg="delSp mod">
        <pc:chgData name="Marco Comuzzi" userId="d1ae8bfba2bd606f" providerId="LiveId" clId="{339ADD7F-95C6-5CA4-9ED0-87379413A5E1}" dt="2026-09-03T00:42:43.290" v="13" actId="478"/>
        <pc:sldMkLst>
          <pc:docMk/>
          <pc:sldMk cId="811798932" sldId="290"/>
        </pc:sldMkLst>
        <pc:inkChg chg="del">
          <ac:chgData name="Marco Comuzzi" userId="d1ae8bfba2bd606f" providerId="LiveId" clId="{339ADD7F-95C6-5CA4-9ED0-87379413A5E1}" dt="2026-09-03T00:42:43.290" v="13" actId="478"/>
          <ac:inkMkLst>
            <pc:docMk/>
            <pc:sldMk cId="811798932" sldId="290"/>
            <ac:inkMk id="5" creationId="{B7B93D98-0BDF-E624-190F-564BB82B9514}"/>
          </ac:inkMkLst>
        </pc:inkChg>
      </pc:sldChg>
      <pc:sldChg chg="delSp mod">
        <pc:chgData name="Marco Comuzzi" userId="d1ae8bfba2bd606f" providerId="LiveId" clId="{339ADD7F-95C6-5CA4-9ED0-87379413A5E1}" dt="2026-09-03T00:43:10.633" v="14" actId="478"/>
        <pc:sldMkLst>
          <pc:docMk/>
          <pc:sldMk cId="3723702762" sldId="291"/>
        </pc:sldMkLst>
        <pc:inkChg chg="del">
          <ac:chgData name="Marco Comuzzi" userId="d1ae8bfba2bd606f" providerId="LiveId" clId="{339ADD7F-95C6-5CA4-9ED0-87379413A5E1}" dt="2026-09-03T00:43:10.633" v="14" actId="478"/>
          <ac:inkMkLst>
            <pc:docMk/>
            <pc:sldMk cId="3723702762" sldId="291"/>
            <ac:inkMk id="3" creationId="{F9189A72-CB67-7FB8-7830-1C8B29B8E01F}"/>
          </ac:inkMkLst>
        </pc:inkChg>
      </pc:sldChg>
      <pc:sldChg chg="delSp mod">
        <pc:chgData name="Marco Comuzzi" userId="d1ae8bfba2bd606f" providerId="LiveId" clId="{339ADD7F-95C6-5CA4-9ED0-87379413A5E1}" dt="2026-09-03T00:43:19.359" v="15" actId="478"/>
        <pc:sldMkLst>
          <pc:docMk/>
          <pc:sldMk cId="3112803874" sldId="292"/>
        </pc:sldMkLst>
        <pc:inkChg chg="del">
          <ac:chgData name="Marco Comuzzi" userId="d1ae8bfba2bd606f" providerId="LiveId" clId="{339ADD7F-95C6-5CA4-9ED0-87379413A5E1}" dt="2026-09-03T00:43:19.359" v="15" actId="478"/>
          <ac:inkMkLst>
            <pc:docMk/>
            <pc:sldMk cId="3112803874" sldId="292"/>
            <ac:inkMk id="8" creationId="{D966A692-8400-D013-387C-44016D563534}"/>
          </ac:inkMkLst>
        </pc:inkChg>
      </pc:sldChg>
      <pc:sldChg chg="delSp mod">
        <pc:chgData name="Marco Comuzzi" userId="d1ae8bfba2bd606f" providerId="LiveId" clId="{339ADD7F-95C6-5CA4-9ED0-87379413A5E1}" dt="2026-09-03T00:43:52.375" v="16" actId="478"/>
        <pc:sldMkLst>
          <pc:docMk/>
          <pc:sldMk cId="1769599652" sldId="293"/>
        </pc:sldMkLst>
        <pc:inkChg chg="del">
          <ac:chgData name="Marco Comuzzi" userId="d1ae8bfba2bd606f" providerId="LiveId" clId="{339ADD7F-95C6-5CA4-9ED0-87379413A5E1}" dt="2026-09-03T00:43:52.375" v="16" actId="478"/>
          <ac:inkMkLst>
            <pc:docMk/>
            <pc:sldMk cId="1769599652" sldId="293"/>
            <ac:inkMk id="4" creationId="{8B37BD8E-B6E9-C2CF-EDA8-36C5F6070888}"/>
          </ac:inkMkLst>
        </pc:inkChg>
      </pc:sldChg>
      <pc:sldChg chg="delSp mod">
        <pc:chgData name="Marco Comuzzi" userId="d1ae8bfba2bd606f" providerId="LiveId" clId="{339ADD7F-95C6-5CA4-9ED0-87379413A5E1}" dt="2026-09-03T00:43:59.895" v="17" actId="478"/>
        <pc:sldMkLst>
          <pc:docMk/>
          <pc:sldMk cId="4093586810" sldId="296"/>
        </pc:sldMkLst>
        <pc:inkChg chg="del">
          <ac:chgData name="Marco Comuzzi" userId="d1ae8bfba2bd606f" providerId="LiveId" clId="{339ADD7F-95C6-5CA4-9ED0-87379413A5E1}" dt="2026-09-03T00:43:59.895" v="17" actId="478"/>
          <ac:inkMkLst>
            <pc:docMk/>
            <pc:sldMk cId="4093586810" sldId="296"/>
            <ac:inkMk id="6" creationId="{ABDC5BC3-6165-99E6-CF4C-18AE04FA9D6A}"/>
          </ac:inkMkLst>
        </pc:inkChg>
      </pc:sldChg>
      <pc:sldChg chg="delSp mod">
        <pc:chgData name="Marco Comuzzi" userId="d1ae8bfba2bd606f" providerId="LiveId" clId="{339ADD7F-95C6-5CA4-9ED0-87379413A5E1}" dt="2026-09-03T00:44:26.938" v="18" actId="478"/>
        <pc:sldMkLst>
          <pc:docMk/>
          <pc:sldMk cId="2465468096" sldId="317"/>
        </pc:sldMkLst>
        <pc:inkChg chg="del">
          <ac:chgData name="Marco Comuzzi" userId="d1ae8bfba2bd606f" providerId="LiveId" clId="{339ADD7F-95C6-5CA4-9ED0-87379413A5E1}" dt="2026-09-03T00:44:26.938" v="18" actId="478"/>
          <ac:inkMkLst>
            <pc:docMk/>
            <pc:sldMk cId="2465468096" sldId="317"/>
            <ac:inkMk id="8" creationId="{C76C1D30-477D-3C3B-CC06-98B41AD66B15}"/>
          </ac:inkMkLst>
        </pc:inkChg>
      </pc:sldChg>
      <pc:sldChg chg="delSp mod">
        <pc:chgData name="Marco Comuzzi" userId="d1ae8bfba2bd606f" providerId="LiveId" clId="{339ADD7F-95C6-5CA4-9ED0-87379413A5E1}" dt="2026-09-03T00:44:33.084" v="19" actId="478"/>
        <pc:sldMkLst>
          <pc:docMk/>
          <pc:sldMk cId="1031893570" sldId="318"/>
        </pc:sldMkLst>
        <pc:inkChg chg="del">
          <ac:chgData name="Marco Comuzzi" userId="d1ae8bfba2bd606f" providerId="LiveId" clId="{339ADD7F-95C6-5CA4-9ED0-87379413A5E1}" dt="2026-09-03T00:44:33.084" v="19" actId="478"/>
          <ac:inkMkLst>
            <pc:docMk/>
            <pc:sldMk cId="1031893570" sldId="318"/>
            <ac:inkMk id="5" creationId="{B5E70118-F749-3B68-78FE-DD03CB28168A}"/>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3T00:38:50.206"/>
    </inkml:context>
    <inkml:brush xml:id="br0">
      <inkml:brushProperty name="height" value="0.053" units="cm"/>
      <inkml:brushProperty name="color" value="#FF0000"/>
    </inkml:brush>
  </inkml:definitions>
  <inkml:trace contextRef="#ctx0" brushRef="#br0">9697 3710 8059,'-41'-28'268,"3"0"1,6-1 0,5 1 0,2-1 0,-3 1 0,-5-1 0,-4 1 0,-4 1 0,-5 3 0,-7 6 0,-6 3 0,-4 6 813,-2 4 0,-3 4-1179,-7 1 0,33 2 0,0 2 0,-4 1 0,0 1 0,0 2 0,1 1 0,-2 2 0,0 0 0,1 2 0,-1 0 0,-1 0 0,0 1 0,-1 1 0,1 1-94,1 1 0,0 1 0,-2 0 0,0 2 1,2 0-1,0 1 86,1-3 0,-1 2 1,-2 3-1,0 1 1,2-1-1,0 2 1,-2 1-1,1 3 1,0 0-1,1 2 197,2-1 0,0 1 1,4 2-1,0-1 0,2-1 1,1 1-1,1 2 0,1 0 59,3 0 1,1 0 0,3-2 0,0-1-106,2 2 0,2 1 1,-23 27-1,10 4 0,7-2 44,6-3 1,10-1-46,11-2 1,4-2 0,4-1-1,9-4 77,9-1 0,8 3-98,13-4 1,6-1 0,3-4 0,5 1 23,4 3 0,-26-24 1,0-1-9,2 2 1,2-1 0,2-1 0,1-1 0,0-1 0,0-1 0,3 0-1,0 0-143,2 1 0,-1-1 1,2 0-1,1-1 114,2 1 1,2 0 0,0-3 0,1 1 0,4 1 0,0 0 0,-1 0 0,1 1 3,-1-1 1,0 0 0,4 0 0,-1 0-56,-3 1 1,0 0 0,7 0 0,0-2 0,1-1 0,0 0 0,1 1 0,0 1-17,1 0 0,1 0 0,0-2 0,1 0 8,-3 0 1,1 1-1,4-2 1,2 0-1,-2-1 1,1 0 0,2 0-1,1-1 270,1-1 1,1 0 0,0 1-1,1-1-207,0-2 0,0-1 0,1 3 0,0 0 1,1-2-1,0 0 0,-26-3 0,1 0 1,0 0 129,1 0 1,1 0 0,-1-1 0,-1 1 0,1-1 0,-1 0-97,2-1 1,-1 0 0,2 0 0,0 0 0,2 1 0,-1 0 0,-1-1 0,-1 1 0,1-1 0,2-1 0,-1 0-1,1 0 16,0 1 1,0-1 0,0 0 0,-1 0 0,1 0 0,-1-1-164,1 0 1,0 1 0,1-1 0,1-1 0,1 0 0,0 0 0,-2-2 0,1 0 0,-1 0 0,1 0 0,1 0 0,-1 0 10,0 0 1,0 0-1,0 0 1,-1 0-1,1 0 1,-2 0 36,0 0 0,0 0 0,1 0 1,1-2-1,1 0 0,0 0 1,-2-1-1,1 0 0,-1-1 1,1 0-1,1 0 0,-1-1-42,0 1 1,0-1 0,0 0 0,-1-1 0,1 0-1,-2-1 73,0 1 0,0 0 0,1-1 0,1-1 0,1 0 0,0-1 0,-2 1 0,0 0 0,0-1 0,0-1 0,-1 0 0,0 0-5,0-1 0,-1 0 0,-1 0 0,-1-2 0,-1 0 1,0 1 48,-2 1 1,0 0-1,0 0 1,1-2-1,0-1 1,0 1-1,24-6 1,-1 0-1,-26 5 1,0 0-1,0-1 71,25-8 1,-1-1-1,1-1 1,-2 0-1,-3-3 1,-2-1 0,-1 0-1,-2 1-3,-1 0 1,-1-1-1,-4 1 1,-2-1-59,-1 1 0,-2-1 0,-2 2 0,-2 0 0,-4 0 0,-1-1 0,-2-1 0,-2-2 117,-1 0 1,-2-1 0,-2 2-1,-1 0-20,-6 0 0,-1-2 0,1 0 0,-2 0 0,-5-1 0,-2-1 0,-1 0 0,-1-1 67,15-36 0,-13 0-188,-8 0 0,-6-1 0,-10 0 0,-4-2-54,-8-2 1,1 35-1,-2 1 26,-6 2 0,-1 0 0,-2-2 0,-3 0 0,-3 1 0,-1 0 0,-3 0 0,0 1-53,-3-1 1,0 1-1,-5-3 1,-2 1 74,-2 1 1,-3 2 0,0 0 0,-1 2-1,-2 0 1,-2 0 0,-2-1 0,-2-1 38,-2 1 0,-1 0 0,-3-1 0,0 1-33,-2 0 0,-1 1 0,-1 0 0,-1 0 0,20 12 0,-1 1 0,0 0 0,-1-1 0,-1 1 0,0 0-13,-1-1 1,0 1 0,0-1 0,-2 2 0,0 0 0,0 0-6,0 0 1,0 1 0,0-1-1,0 2 1,1-1 0,-2 1 0,-3 0-1,0 0 1,-1 0 0,-2 0 0,1 0-1,-1 0-10,-1 0 1,0 0 0,-1 0 0,0 2 0,-1 0 0,0 1 2,-1 0 0,0 0 0,-1 0 0,-1 2 0,-1 0 0,1 0 0,-2 0 0,1 1 0,-1 0 0,-1 1 0,0 0 0,0 0 80,-2 0 1,1 0-1,-1 1 1,-1 1-1,1 1 1,-1 1-35,-2 1 1,1 1 0,-2 0 0,-2 1 0,0 0 0,-1 1 0,18 1 0,0 1 0,-1 0 0,0 0 0,-2 0 0,-1 1-1,0 1 1,-1 0 39,0 0 0,-1 0 0,1 1 0,-1 1 0,0-1 0,0 2 0,0-1 1,0 1-79,1 1 0,-1 1 0,0 0 1,1 0-1,1 1 0,1-1 1,-1 1-1,1 1 0,-1 1 0,-1 0 1,1 1-1,0 1 0,-2 0 1,0 1-1,0 0 0,0 1-71,-1 1 1,1 0-1,-1 1 1,0 1 0,-1 1-1,-1 1 1,1 1 0,0 1-4,1 0 0,0 1 0,0 0 0,1 1 0,0 1 1,1 1-1,0 0 0,0 1 0,1 0 0,0 1 0,-1 0 1,1 0-1,-2 2 0,1 0 0,-1 0 0,1 1-340,-1 1 1,1 0-1,0 0 1,0 1 419,1 1 0,1 1 0,-1 0 0,1 1 0,-1 1 0,-1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CACCA-0F08-9B4E-8E43-1E45E97CA691}" type="datetimeFigureOut">
              <a:rPr lang="en-US" smtClean="0"/>
              <a:t>9/3/26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A1DB-B990-074F-B82C-248F6F91A05A}" type="slidenum">
              <a:rPr lang="en-US" smtClean="0"/>
              <a:t>‹#›</a:t>
            </a:fld>
            <a:endParaRPr lang="en-US"/>
          </a:p>
        </p:txBody>
      </p:sp>
    </p:spTree>
    <p:extLst>
      <p:ext uri="{BB962C8B-B14F-4D97-AF65-F5344CB8AC3E}">
        <p14:creationId xmlns:p14="http://schemas.microsoft.com/office/powerpoint/2010/main" val="696647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A1DB-B990-074F-B82C-248F6F91A05A}" type="slidenum">
              <a:rPr lang="en-US" smtClean="0"/>
              <a:t>3</a:t>
            </a:fld>
            <a:endParaRPr lang="en-US"/>
          </a:p>
        </p:txBody>
      </p:sp>
    </p:spTree>
    <p:extLst>
      <p:ext uri="{BB962C8B-B14F-4D97-AF65-F5344CB8AC3E}">
        <p14:creationId xmlns:p14="http://schemas.microsoft.com/office/powerpoint/2010/main" val="473362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9E804-A46A-F48D-8EAF-DBCFF4C3D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7FA04C-45A8-BEB4-F935-8C3095AD3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ACAF7F-7740-160B-1EDA-FD28DB791C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585488-A4B7-AC05-2845-F79D54B5529E}"/>
              </a:ext>
            </a:extLst>
          </p:cNvPr>
          <p:cNvSpPr>
            <a:spLocks noGrp="1"/>
          </p:cNvSpPr>
          <p:nvPr>
            <p:ph type="sldNum" sz="quarter" idx="5"/>
          </p:nvPr>
        </p:nvSpPr>
        <p:spPr/>
        <p:txBody>
          <a:bodyPr/>
          <a:lstStyle/>
          <a:p>
            <a:fld id="{1089A1DB-B990-074F-B82C-248F6F91A05A}" type="slidenum">
              <a:rPr lang="en-US" smtClean="0"/>
              <a:t>7</a:t>
            </a:fld>
            <a:endParaRPr lang="en-US"/>
          </a:p>
        </p:txBody>
      </p:sp>
    </p:spTree>
    <p:extLst>
      <p:ext uri="{BB962C8B-B14F-4D97-AF65-F5344CB8AC3E}">
        <p14:creationId xmlns:p14="http://schemas.microsoft.com/office/powerpoint/2010/main" val="2723161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Additional $1000 dollars spent on TV advertising is associated with selling approximately 47.5 additional units of the product</a:t>
            </a:r>
          </a:p>
        </p:txBody>
      </p:sp>
      <p:sp>
        <p:nvSpPr>
          <p:cNvPr id="4" name="Slide Number Placeholder 3"/>
          <p:cNvSpPr>
            <a:spLocks noGrp="1"/>
          </p:cNvSpPr>
          <p:nvPr>
            <p:ph type="sldNum" sz="quarter" idx="5"/>
          </p:nvPr>
        </p:nvSpPr>
        <p:spPr/>
        <p:txBody>
          <a:bodyPr/>
          <a:lstStyle/>
          <a:p>
            <a:fld id="{1089A1DB-B990-074F-B82C-248F6F91A05A}" type="slidenum">
              <a:rPr lang="en-US" smtClean="0"/>
              <a:t>8</a:t>
            </a:fld>
            <a:endParaRPr lang="en-US"/>
          </a:p>
        </p:txBody>
      </p:sp>
    </p:spTree>
    <p:extLst>
      <p:ext uri="{BB962C8B-B14F-4D97-AF65-F5344CB8AC3E}">
        <p14:creationId xmlns:p14="http://schemas.microsoft.com/office/powerpoint/2010/main" val="3772221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statistics 101, not data mining!</a:t>
            </a:r>
          </a:p>
        </p:txBody>
      </p:sp>
      <p:sp>
        <p:nvSpPr>
          <p:cNvPr id="4" name="Slide Number Placeholder 3"/>
          <p:cNvSpPr>
            <a:spLocks noGrp="1"/>
          </p:cNvSpPr>
          <p:nvPr>
            <p:ph type="sldNum" sz="quarter" idx="5"/>
          </p:nvPr>
        </p:nvSpPr>
        <p:spPr/>
        <p:txBody>
          <a:bodyPr/>
          <a:lstStyle/>
          <a:p>
            <a:fld id="{1089A1DB-B990-074F-B82C-248F6F91A05A}" type="slidenum">
              <a:rPr lang="en-US" smtClean="0"/>
              <a:t>9</a:t>
            </a:fld>
            <a:endParaRPr lang="en-US"/>
          </a:p>
        </p:txBody>
      </p:sp>
    </p:spTree>
    <p:extLst>
      <p:ext uri="{BB962C8B-B14F-4D97-AF65-F5344CB8AC3E}">
        <p14:creationId xmlns:p14="http://schemas.microsoft.com/office/powerpoint/2010/main" val="3486437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91AEB-4858-3EE4-27AB-BA11B86301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FD9FC-C8EB-3AFD-A658-05EDC7842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540D4-E6EC-86FA-FE05-3B44C47098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0B3DA2-365E-ECAD-8C2B-50FC60C5419D}"/>
              </a:ext>
            </a:extLst>
          </p:cNvPr>
          <p:cNvSpPr>
            <a:spLocks noGrp="1"/>
          </p:cNvSpPr>
          <p:nvPr>
            <p:ph type="sldNum" sz="quarter" idx="5"/>
          </p:nvPr>
        </p:nvSpPr>
        <p:spPr/>
        <p:txBody>
          <a:bodyPr/>
          <a:lstStyle/>
          <a:p>
            <a:fld id="{1089A1DB-B990-074F-B82C-248F6F91A05A}" type="slidenum">
              <a:rPr lang="en-US" smtClean="0"/>
              <a:t>13</a:t>
            </a:fld>
            <a:endParaRPr lang="en-US"/>
          </a:p>
        </p:txBody>
      </p:sp>
    </p:spTree>
    <p:extLst>
      <p:ext uri="{BB962C8B-B14F-4D97-AF65-F5344CB8AC3E}">
        <p14:creationId xmlns:p14="http://schemas.microsoft.com/office/powerpoint/2010/main" val="2793137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89A1DB-B990-074F-B82C-248F6F91A05A}" type="slidenum">
              <a:rPr lang="en-US" smtClean="0"/>
              <a:t>18</a:t>
            </a:fld>
            <a:endParaRPr lang="en-US"/>
          </a:p>
        </p:txBody>
      </p:sp>
    </p:spTree>
    <p:extLst>
      <p:ext uri="{BB962C8B-B14F-4D97-AF65-F5344CB8AC3E}">
        <p14:creationId xmlns:p14="http://schemas.microsoft.com/office/powerpoint/2010/main" val="1846507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89A1DB-B990-074F-B82C-248F6F91A05A}" type="slidenum">
              <a:rPr lang="en-US" smtClean="0"/>
              <a:t>28</a:t>
            </a:fld>
            <a:endParaRPr lang="en-US"/>
          </a:p>
        </p:txBody>
      </p:sp>
    </p:spTree>
    <p:extLst>
      <p:ext uri="{BB962C8B-B14F-4D97-AF65-F5344CB8AC3E}">
        <p14:creationId xmlns:p14="http://schemas.microsoft.com/office/powerpoint/2010/main" val="34353828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of the regressions ignores the other predictors (media in the example).</a:t>
            </a:r>
            <a:br>
              <a:rPr lang="en-US"/>
            </a:br>
            <a:r>
              <a:rPr lang="en-US"/>
              <a:t>How can we make one single prediction given the value of all the predictors?</a:t>
            </a:r>
          </a:p>
        </p:txBody>
      </p:sp>
      <p:sp>
        <p:nvSpPr>
          <p:cNvPr id="4" name="Slide Number Placeholder 3"/>
          <p:cNvSpPr>
            <a:spLocks noGrp="1"/>
          </p:cNvSpPr>
          <p:nvPr>
            <p:ph type="sldNum" sz="quarter" idx="5"/>
          </p:nvPr>
        </p:nvSpPr>
        <p:spPr/>
        <p:txBody>
          <a:bodyPr/>
          <a:lstStyle/>
          <a:p>
            <a:fld id="{1089A1DB-B990-074F-B82C-248F6F91A05A}" type="slidenum">
              <a:rPr lang="en-US" smtClean="0"/>
              <a:t>29</a:t>
            </a:fld>
            <a:endParaRPr lang="en-US"/>
          </a:p>
        </p:txBody>
      </p:sp>
    </p:spTree>
    <p:extLst>
      <p:ext uri="{BB962C8B-B14F-4D97-AF65-F5344CB8AC3E}">
        <p14:creationId xmlns:p14="http://schemas.microsoft.com/office/powerpoint/2010/main" val="2777075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ignore radio (single regression), then newspaper seems to influence sales because it benefits from being correlated with radio. If we consider all the predictors at the same time, we can spot the spurious correlation.</a:t>
            </a:r>
          </a:p>
        </p:txBody>
      </p:sp>
      <p:sp>
        <p:nvSpPr>
          <p:cNvPr id="4" name="Slide Number Placeholder 3"/>
          <p:cNvSpPr>
            <a:spLocks noGrp="1"/>
          </p:cNvSpPr>
          <p:nvPr>
            <p:ph type="sldNum" sz="quarter" idx="5"/>
          </p:nvPr>
        </p:nvSpPr>
        <p:spPr/>
        <p:txBody>
          <a:bodyPr/>
          <a:lstStyle/>
          <a:p>
            <a:fld id="{1089A1DB-B990-074F-B82C-248F6F91A05A}" type="slidenum">
              <a:rPr lang="en-US" smtClean="0"/>
              <a:t>35</a:t>
            </a:fld>
            <a:endParaRPr lang="en-US"/>
          </a:p>
        </p:txBody>
      </p:sp>
    </p:spTree>
    <p:extLst>
      <p:ext uri="{BB962C8B-B14F-4D97-AF65-F5344CB8AC3E}">
        <p14:creationId xmlns:p14="http://schemas.microsoft.com/office/powerpoint/2010/main" val="1491349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89A1DB-B990-074F-B82C-248F6F91A05A}" type="slidenum">
              <a:rPr lang="en-US" smtClean="0"/>
              <a:t>36</a:t>
            </a:fld>
            <a:endParaRPr lang="en-US"/>
          </a:p>
        </p:txBody>
      </p:sp>
    </p:spTree>
    <p:extLst>
      <p:ext uri="{BB962C8B-B14F-4D97-AF65-F5344CB8AC3E}">
        <p14:creationId xmlns:p14="http://schemas.microsoft.com/office/powerpoint/2010/main" val="472039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example, we should probably not consider newspaper</a:t>
            </a:r>
          </a:p>
        </p:txBody>
      </p:sp>
      <p:sp>
        <p:nvSpPr>
          <p:cNvPr id="4" name="Slide Number Placeholder 3"/>
          <p:cNvSpPr>
            <a:spLocks noGrp="1"/>
          </p:cNvSpPr>
          <p:nvPr>
            <p:ph type="sldNum" sz="quarter" idx="5"/>
          </p:nvPr>
        </p:nvSpPr>
        <p:spPr/>
        <p:txBody>
          <a:bodyPr/>
          <a:lstStyle/>
          <a:p>
            <a:fld id="{1089A1DB-B990-074F-B82C-248F6F91A05A}" type="slidenum">
              <a:rPr lang="en-US" smtClean="0"/>
              <a:t>42</a:t>
            </a:fld>
            <a:endParaRPr lang="en-US"/>
          </a:p>
        </p:txBody>
      </p:sp>
    </p:spTree>
    <p:extLst>
      <p:ext uri="{BB962C8B-B14F-4D97-AF65-F5344CB8AC3E}">
        <p14:creationId xmlns:p14="http://schemas.microsoft.com/office/powerpoint/2010/main" val="1224293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B0 average cc balance among those who do not own, b0 + b1 among who own</a:t>
            </a:r>
          </a:p>
        </p:txBody>
      </p:sp>
      <p:sp>
        <p:nvSpPr>
          <p:cNvPr id="4" name="Slide Number Placeholder 3"/>
          <p:cNvSpPr>
            <a:spLocks noGrp="1"/>
          </p:cNvSpPr>
          <p:nvPr>
            <p:ph type="sldNum" sz="quarter" idx="5"/>
          </p:nvPr>
        </p:nvSpPr>
        <p:spPr/>
        <p:txBody>
          <a:bodyPr/>
          <a:lstStyle/>
          <a:p>
            <a:fld id="{1089A1DB-B990-074F-B82C-248F6F91A05A}" type="slidenum">
              <a:rPr lang="en-US" smtClean="0"/>
              <a:t>53</a:t>
            </a:fld>
            <a:endParaRPr lang="en-US"/>
          </a:p>
        </p:txBody>
      </p:sp>
    </p:spTree>
    <p:extLst>
      <p:ext uri="{BB962C8B-B14F-4D97-AF65-F5344CB8AC3E}">
        <p14:creationId xmlns:p14="http://schemas.microsoft.com/office/powerpoint/2010/main" val="1872778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B86B1-C90E-CFEA-70F0-1930DAA2388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61425D-0A43-755C-80BC-4DA144738D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953DE3C-9C62-34BE-292B-0C581DB92830}"/>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5" name="Footer Placeholder 4">
            <a:extLst>
              <a:ext uri="{FF2B5EF4-FFF2-40B4-BE49-F238E27FC236}">
                <a16:creationId xmlns:a16="http://schemas.microsoft.com/office/drawing/2014/main" id="{39291127-8A4B-09C8-4DFF-6F0E933EF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8580F-7C49-FF36-A959-B66BE60973EC}"/>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1008020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C781E-B19C-4CE1-F7EC-152B6DD25BE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6A07D02-CA24-A7E2-747A-BBCC1CCAA3E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9317940-A79B-EAE2-A0FF-78DF5471FF2E}"/>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5" name="Footer Placeholder 4">
            <a:extLst>
              <a:ext uri="{FF2B5EF4-FFF2-40B4-BE49-F238E27FC236}">
                <a16:creationId xmlns:a16="http://schemas.microsoft.com/office/drawing/2014/main" id="{A2415E17-CE51-A361-FBCE-F9C750904F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1B1FA5-0970-E5F4-21AB-A4D788F7623A}"/>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4115087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3A186-234E-E9A0-3735-94C748628B4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55AFE35-9AE0-A705-9CF4-7A3CCC01E2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3E87E28-17EE-0EFE-E121-8C379D654840}"/>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5" name="Footer Placeholder 4">
            <a:extLst>
              <a:ext uri="{FF2B5EF4-FFF2-40B4-BE49-F238E27FC236}">
                <a16:creationId xmlns:a16="http://schemas.microsoft.com/office/drawing/2014/main" id="{822ED293-0AA9-7E56-5A45-24608F0B08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B59F4A-5FE8-5538-A578-1599E9C35722}"/>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468825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25D8-630A-5A20-3691-AE8CAC32CBC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BBF6799-B7F5-1F07-5583-2FF5C983DB3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553C9EB-A20C-287D-BC62-5D085C73BCD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35B5FA4-C020-6AC9-84EE-2C631243A04A}"/>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6" name="Footer Placeholder 5">
            <a:extLst>
              <a:ext uri="{FF2B5EF4-FFF2-40B4-BE49-F238E27FC236}">
                <a16:creationId xmlns:a16="http://schemas.microsoft.com/office/drawing/2014/main" id="{1014D8ED-189C-53F5-3126-A69C4E88F7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459574-9F53-C72B-4654-7180DB61F3CA}"/>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2467570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1AFB2-32EF-B9CD-16E5-EB28A3242A3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1E5456B-BF8A-908B-A2D1-D8626EDA29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B546D05-8B24-A8EA-6ED0-0E85D6B1729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5E44840-3180-7143-65B4-E5F5D2B480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FDDD93B-06AC-66E5-78E4-026C490E685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4DEA6B4-552C-0097-C172-921707E5736A}"/>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8" name="Footer Placeholder 7">
            <a:extLst>
              <a:ext uri="{FF2B5EF4-FFF2-40B4-BE49-F238E27FC236}">
                <a16:creationId xmlns:a16="http://schemas.microsoft.com/office/drawing/2014/main" id="{062537D6-E73D-A23A-D172-570FCC9B3C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D11A85-413F-8AA9-22ED-14038F56F072}"/>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1770489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2019F-D853-D801-1064-2196CB1C3CB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5E3E12C-3A8C-58EC-70C0-9D53AD1CA43E}"/>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4" name="Footer Placeholder 3">
            <a:extLst>
              <a:ext uri="{FF2B5EF4-FFF2-40B4-BE49-F238E27FC236}">
                <a16:creationId xmlns:a16="http://schemas.microsoft.com/office/drawing/2014/main" id="{0CBF53F4-6F8D-9A5F-7830-BCF8678AC2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32F61E-DEC6-EDD6-AD87-12A2821E51A2}"/>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1085649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07B3E0-FAD6-BE2C-DB7C-0368A7CC95A0}"/>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3" name="Footer Placeholder 2">
            <a:extLst>
              <a:ext uri="{FF2B5EF4-FFF2-40B4-BE49-F238E27FC236}">
                <a16:creationId xmlns:a16="http://schemas.microsoft.com/office/drawing/2014/main" id="{5D9FFE4E-0104-BDAE-2A6B-4C5FF6B66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7C283C-C0C3-425E-EC55-E998EFB6954E}"/>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1186095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6408-6F49-9B42-F028-FAFB97653C1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33A7558-B562-6A6C-FACD-53FC1C4592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64834EA-4A14-6C8B-EEF1-37110E6AE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8C2D8E6-FBC6-DA41-DA38-91267AEF1433}"/>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6" name="Footer Placeholder 5">
            <a:extLst>
              <a:ext uri="{FF2B5EF4-FFF2-40B4-BE49-F238E27FC236}">
                <a16:creationId xmlns:a16="http://schemas.microsoft.com/office/drawing/2014/main" id="{D46D430B-B9C5-BA2A-B1F8-0122BB67E5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431C03-05CC-D097-9AEA-21195C6D28DB}"/>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2430399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7E738-0334-E049-FF79-6CC7DAFB89A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3EEB8D9-8D66-E358-FD2C-43068765C1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B3B0CD-1429-BC4B-098A-67C2876327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C2BF18B-9A9B-1CDB-CC4E-B99E91B5A7CA}"/>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6" name="Footer Placeholder 5">
            <a:extLst>
              <a:ext uri="{FF2B5EF4-FFF2-40B4-BE49-F238E27FC236}">
                <a16:creationId xmlns:a16="http://schemas.microsoft.com/office/drawing/2014/main" id="{073A7C79-1903-44CC-64CC-917BB53D1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82D61B-67C0-F020-0952-38C4BC764196}"/>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1804405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9BC4C-33F2-9967-E616-7B36C42FAAE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CD59CA1-4634-0146-CF1B-CF87AF75DE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E4E64F-F006-6F36-9E7C-B1CC1ACF23A1}"/>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5" name="Footer Placeholder 4">
            <a:extLst>
              <a:ext uri="{FF2B5EF4-FFF2-40B4-BE49-F238E27FC236}">
                <a16:creationId xmlns:a16="http://schemas.microsoft.com/office/drawing/2014/main" id="{E4DDA19E-CDBD-77BD-1616-01F9409A98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73FB88-92CA-BEF4-E4FC-7A980F244951}"/>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1476420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BA4758-B749-3505-9319-59C06BEB91A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02EDB69-2C4A-B468-0660-F903EAB1A5A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3C6157-C837-877A-40C6-5B0C0A015B7F}"/>
              </a:ext>
            </a:extLst>
          </p:cNvPr>
          <p:cNvSpPr>
            <a:spLocks noGrp="1"/>
          </p:cNvSpPr>
          <p:nvPr>
            <p:ph type="dt" sz="half" idx="10"/>
          </p:nvPr>
        </p:nvSpPr>
        <p:spPr/>
        <p:txBody>
          <a:bodyPr/>
          <a:lstStyle/>
          <a:p>
            <a:fld id="{77D5A729-0C1F-AC41-BAB8-89B6AC23A1A1}" type="datetimeFigureOut">
              <a:rPr lang="en-US" smtClean="0"/>
              <a:t>9/3/26</a:t>
            </a:fld>
            <a:endParaRPr lang="en-US"/>
          </a:p>
        </p:txBody>
      </p:sp>
      <p:sp>
        <p:nvSpPr>
          <p:cNvPr id="5" name="Footer Placeholder 4">
            <a:extLst>
              <a:ext uri="{FF2B5EF4-FFF2-40B4-BE49-F238E27FC236}">
                <a16:creationId xmlns:a16="http://schemas.microsoft.com/office/drawing/2014/main" id="{74EA1908-B89B-E9CE-A206-2D82395871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33B2F-C5E3-D028-2926-B27EF72165D4}"/>
              </a:ext>
            </a:extLst>
          </p:cNvPr>
          <p:cNvSpPr>
            <a:spLocks noGrp="1"/>
          </p:cNvSpPr>
          <p:nvPr>
            <p:ph type="sldNum" sz="quarter" idx="12"/>
          </p:nvPr>
        </p:nvSpPr>
        <p:spPr/>
        <p:txBody>
          <a:bodyPr/>
          <a:lstStyle/>
          <a:p>
            <a:fld id="{04862C78-EE96-DC42-B133-BE553B3C0946}" type="slidenum">
              <a:rPr lang="en-US" smtClean="0"/>
              <a:t>‹#›</a:t>
            </a:fld>
            <a:endParaRPr lang="en-US"/>
          </a:p>
        </p:txBody>
      </p:sp>
    </p:spTree>
    <p:extLst>
      <p:ext uri="{BB962C8B-B14F-4D97-AF65-F5344CB8AC3E}">
        <p14:creationId xmlns:p14="http://schemas.microsoft.com/office/powerpoint/2010/main" val="3260200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91E4AF-2865-11A1-0D21-2BEF7021FA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155C5-1012-FE22-CD17-6F7C0BD778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0711B3-CE1E-FB1A-C818-A2BEE79F76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D5A729-0C1F-AC41-BAB8-89B6AC23A1A1}" type="datetimeFigureOut">
              <a:rPr lang="en-US" smtClean="0"/>
              <a:t>9/3/26</a:t>
            </a:fld>
            <a:endParaRPr lang="en-US"/>
          </a:p>
        </p:txBody>
      </p:sp>
      <p:sp>
        <p:nvSpPr>
          <p:cNvPr id="5" name="Footer Placeholder 4">
            <a:extLst>
              <a:ext uri="{FF2B5EF4-FFF2-40B4-BE49-F238E27FC236}">
                <a16:creationId xmlns:a16="http://schemas.microsoft.com/office/drawing/2014/main" id="{55DBAADD-97C3-C686-1776-A8EA0730EC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0A8783-1B25-47DC-A680-5AC423CD9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862C78-EE96-DC42-B133-BE553B3C0946}" type="slidenum">
              <a:rPr lang="en-US" smtClean="0"/>
              <a:t>‹#›</a:t>
            </a:fld>
            <a:endParaRPr lang="en-US"/>
          </a:p>
        </p:txBody>
      </p:sp>
    </p:spTree>
    <p:extLst>
      <p:ext uri="{BB962C8B-B14F-4D97-AF65-F5344CB8AC3E}">
        <p14:creationId xmlns:p14="http://schemas.microsoft.com/office/powerpoint/2010/main" val="612109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5B3BF-683C-D5A0-9EF9-F0854D2FC2AA}"/>
              </a:ext>
            </a:extLst>
          </p:cNvPr>
          <p:cNvSpPr>
            <a:spLocks noGrp="1"/>
          </p:cNvSpPr>
          <p:nvPr>
            <p:ph type="ctrTitle"/>
          </p:nvPr>
        </p:nvSpPr>
        <p:spPr/>
        <p:txBody>
          <a:bodyPr/>
          <a:lstStyle/>
          <a:p>
            <a:r>
              <a:rPr lang="en-US"/>
              <a:t>Linear Regression</a:t>
            </a:r>
          </a:p>
        </p:txBody>
      </p:sp>
      <p:sp>
        <p:nvSpPr>
          <p:cNvPr id="3" name="Subtitle 2">
            <a:extLst>
              <a:ext uri="{FF2B5EF4-FFF2-40B4-BE49-F238E27FC236}">
                <a16:creationId xmlns:a16="http://schemas.microsoft.com/office/drawing/2014/main" id="{064A91D9-EE3C-A479-A97B-6D79FB92771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23867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57A99-1019-7497-B2EE-74427ADC4FA1}"/>
              </a:ext>
            </a:extLst>
          </p:cNvPr>
          <p:cNvSpPr>
            <a:spLocks noGrp="1"/>
          </p:cNvSpPr>
          <p:nvPr>
            <p:ph idx="1"/>
          </p:nvPr>
        </p:nvSpPr>
        <p:spPr>
          <a:xfrm>
            <a:off x="7933038" y="210064"/>
            <a:ext cx="3818238" cy="6285633"/>
          </a:xfrm>
        </p:spPr>
        <p:txBody>
          <a:bodyPr/>
          <a:lstStyle/>
          <a:p>
            <a:pPr marL="0" indent="0">
              <a:buNone/>
            </a:pPr>
            <a:r>
              <a:rPr lang="en-US" dirty="0"/>
              <a:t>Supervised</a:t>
            </a:r>
          </a:p>
          <a:p>
            <a:endParaRPr lang="en-US" dirty="0"/>
          </a:p>
          <a:p>
            <a:pPr marL="0" indent="0">
              <a:buNone/>
            </a:pPr>
            <a:r>
              <a:rPr lang="en-US" dirty="0"/>
              <a:t>Parametric</a:t>
            </a:r>
          </a:p>
          <a:p>
            <a:endParaRPr lang="en-US" dirty="0"/>
          </a:p>
          <a:p>
            <a:pPr marL="0" indent="0">
              <a:buNone/>
            </a:pPr>
            <a:r>
              <a:rPr lang="en-US" dirty="0"/>
              <a:t>Linear</a:t>
            </a:r>
          </a:p>
        </p:txBody>
      </p:sp>
      <p:pic>
        <p:nvPicPr>
          <p:cNvPr id="4" name="Picture 3">
            <a:extLst>
              <a:ext uri="{FF2B5EF4-FFF2-40B4-BE49-F238E27FC236}">
                <a16:creationId xmlns:a16="http://schemas.microsoft.com/office/drawing/2014/main" id="{D94755EB-2007-2FDB-1906-F9EEE48B0009}"/>
              </a:ext>
            </a:extLst>
          </p:cNvPr>
          <p:cNvPicPr>
            <a:picLocks noChangeAspect="1"/>
          </p:cNvPicPr>
          <p:nvPr/>
        </p:nvPicPr>
        <p:blipFill>
          <a:blip r:embed="rId2"/>
          <a:stretch>
            <a:fillRect/>
          </a:stretch>
        </p:blipFill>
        <p:spPr>
          <a:xfrm>
            <a:off x="0" y="0"/>
            <a:ext cx="7772400" cy="6285634"/>
          </a:xfrm>
          <a:prstGeom prst="rect">
            <a:avLst/>
          </a:prstGeom>
        </p:spPr>
      </p:pic>
    </p:spTree>
    <p:extLst>
      <p:ext uri="{BB962C8B-B14F-4D97-AF65-F5344CB8AC3E}">
        <p14:creationId xmlns:p14="http://schemas.microsoft.com/office/powerpoint/2010/main" val="798264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9E4C2-8273-B8F5-26C0-076E90BE69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46D538-9D49-7400-3265-42905CAAD89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98E84E3-6EFB-F001-6A92-5177A9CC09C7}"/>
              </a:ext>
            </a:extLst>
          </p:cNvPr>
          <p:cNvPicPr>
            <a:picLocks noChangeAspect="1"/>
          </p:cNvPicPr>
          <p:nvPr/>
        </p:nvPicPr>
        <p:blipFill>
          <a:blip r:embed="rId3"/>
          <a:stretch>
            <a:fillRect/>
          </a:stretch>
        </p:blipFill>
        <p:spPr>
          <a:xfrm>
            <a:off x="0" y="-137"/>
            <a:ext cx="6351373" cy="4255419"/>
          </a:xfrm>
          <a:prstGeom prst="rect">
            <a:avLst/>
          </a:prstGeom>
        </p:spPr>
      </p:pic>
      <p:pic>
        <p:nvPicPr>
          <p:cNvPr id="5" name="Picture 4">
            <a:extLst>
              <a:ext uri="{FF2B5EF4-FFF2-40B4-BE49-F238E27FC236}">
                <a16:creationId xmlns:a16="http://schemas.microsoft.com/office/drawing/2014/main" id="{717EFBC0-5860-5519-5528-FB404614E2F0}"/>
              </a:ext>
            </a:extLst>
          </p:cNvPr>
          <p:cNvPicPr>
            <a:picLocks noChangeAspect="1"/>
          </p:cNvPicPr>
          <p:nvPr/>
        </p:nvPicPr>
        <p:blipFill>
          <a:blip r:embed="rId4"/>
          <a:stretch>
            <a:fillRect/>
          </a:stretch>
        </p:blipFill>
        <p:spPr>
          <a:xfrm>
            <a:off x="5198294" y="3657600"/>
            <a:ext cx="6993705" cy="3200400"/>
          </a:xfrm>
          <a:prstGeom prst="rect">
            <a:avLst/>
          </a:prstGeom>
        </p:spPr>
      </p:pic>
      <p:sp>
        <p:nvSpPr>
          <p:cNvPr id="6" name="Content Placeholder 2">
            <a:extLst>
              <a:ext uri="{FF2B5EF4-FFF2-40B4-BE49-F238E27FC236}">
                <a16:creationId xmlns:a16="http://schemas.microsoft.com/office/drawing/2014/main" id="{FDC5728C-AF2F-C51D-1D57-E60877577A35}"/>
              </a:ext>
            </a:extLst>
          </p:cNvPr>
          <p:cNvSpPr txBox="1">
            <a:spLocks/>
          </p:cNvSpPr>
          <p:nvPr/>
        </p:nvSpPr>
        <p:spPr>
          <a:xfrm>
            <a:off x="7189573" y="210065"/>
            <a:ext cx="4561703" cy="29903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Simple and parametric </a:t>
            </a:r>
            <a:r>
              <a:rPr lang="en-US" dirty="0">
                <a:sym typeface="Wingdings" pitchFamily="2" charset="2"/>
              </a:rPr>
              <a:t></a:t>
            </a:r>
            <a:r>
              <a:rPr lang="en-US" dirty="0"/>
              <a:t> good for inference</a:t>
            </a:r>
          </a:p>
        </p:txBody>
      </p:sp>
    </p:spTree>
    <p:extLst>
      <p:ext uri="{BB962C8B-B14F-4D97-AF65-F5344CB8AC3E}">
        <p14:creationId xmlns:p14="http://schemas.microsoft.com/office/powerpoint/2010/main" val="4155764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303872-17C5-3BAE-2E57-ACDBAE36D2B7}"/>
              </a:ext>
            </a:extLst>
          </p:cNvPr>
          <p:cNvPicPr>
            <a:picLocks noChangeAspect="1"/>
          </p:cNvPicPr>
          <p:nvPr/>
        </p:nvPicPr>
        <p:blipFill>
          <a:blip r:embed="rId2"/>
          <a:stretch>
            <a:fillRect/>
          </a:stretch>
        </p:blipFill>
        <p:spPr>
          <a:xfrm>
            <a:off x="0" y="0"/>
            <a:ext cx="7772400" cy="5408983"/>
          </a:xfrm>
          <a:prstGeom prst="rect">
            <a:avLst/>
          </a:prstGeom>
        </p:spPr>
      </p:pic>
      <p:pic>
        <p:nvPicPr>
          <p:cNvPr id="6" name="Picture 5">
            <a:extLst>
              <a:ext uri="{FF2B5EF4-FFF2-40B4-BE49-F238E27FC236}">
                <a16:creationId xmlns:a16="http://schemas.microsoft.com/office/drawing/2014/main" id="{CADEE93D-4AAF-27F3-C837-88EF1DAC902A}"/>
              </a:ext>
            </a:extLst>
          </p:cNvPr>
          <p:cNvPicPr>
            <a:picLocks noChangeAspect="1"/>
          </p:cNvPicPr>
          <p:nvPr/>
        </p:nvPicPr>
        <p:blipFill>
          <a:blip r:embed="rId3"/>
          <a:stretch>
            <a:fillRect/>
          </a:stretch>
        </p:blipFill>
        <p:spPr>
          <a:xfrm>
            <a:off x="8250164" y="1676399"/>
            <a:ext cx="3183985" cy="4704997"/>
          </a:xfrm>
          <a:prstGeom prst="rect">
            <a:avLst/>
          </a:prstGeom>
        </p:spPr>
      </p:pic>
      <p:cxnSp>
        <p:nvCxnSpPr>
          <p:cNvPr id="8" name="Straight Arrow Connector 7">
            <a:extLst>
              <a:ext uri="{FF2B5EF4-FFF2-40B4-BE49-F238E27FC236}">
                <a16:creationId xmlns:a16="http://schemas.microsoft.com/office/drawing/2014/main" id="{3CB57513-595F-32D2-9DBD-CB4E129622BD}"/>
              </a:ext>
            </a:extLst>
          </p:cNvPr>
          <p:cNvCxnSpPr/>
          <p:nvPr/>
        </p:nvCxnSpPr>
        <p:spPr>
          <a:xfrm>
            <a:off x="3886200" y="1866900"/>
            <a:ext cx="5003800" cy="29591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4DAEA37-E894-B7CF-31CE-F1184DFB86B7}"/>
                  </a:ext>
                </a:extLst>
              </p14:cNvPr>
              <p14:cNvContentPartPr/>
              <p14:nvPr/>
            </p14:nvContentPartPr>
            <p14:xfrm>
              <a:off x="2483280" y="886680"/>
              <a:ext cx="3925440" cy="1380960"/>
            </p14:xfrm>
          </p:contentPart>
        </mc:Choice>
        <mc:Fallback xmlns="">
          <p:pic>
            <p:nvPicPr>
              <p:cNvPr id="3" name="Ink 2">
                <a:extLst>
                  <a:ext uri="{FF2B5EF4-FFF2-40B4-BE49-F238E27FC236}">
                    <a16:creationId xmlns:a16="http://schemas.microsoft.com/office/drawing/2014/main" id="{54DAEA37-E894-B7CF-31CE-F1184DFB86B7}"/>
                  </a:ext>
                </a:extLst>
              </p:cNvPr>
              <p:cNvPicPr/>
              <p:nvPr/>
            </p:nvPicPr>
            <p:blipFill>
              <a:blip r:embed="rId5"/>
              <a:stretch>
                <a:fillRect/>
              </a:stretch>
            </p:blipFill>
            <p:spPr>
              <a:xfrm>
                <a:off x="2473920" y="877320"/>
                <a:ext cx="3944160" cy="1399680"/>
              </a:xfrm>
              <a:prstGeom prst="rect">
                <a:avLst/>
              </a:prstGeom>
            </p:spPr>
          </p:pic>
        </mc:Fallback>
      </mc:AlternateContent>
    </p:spTree>
    <p:extLst>
      <p:ext uri="{BB962C8B-B14F-4D97-AF65-F5344CB8AC3E}">
        <p14:creationId xmlns:p14="http://schemas.microsoft.com/office/powerpoint/2010/main" val="3386795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B3A91-4532-A583-D941-460B7B9180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AF8009-B8DE-4A74-6D42-22E9A4AA81E7}"/>
              </a:ext>
            </a:extLst>
          </p:cNvPr>
          <p:cNvSpPr>
            <a:spLocks noGrp="1"/>
          </p:cNvSpPr>
          <p:nvPr>
            <p:ph idx="1"/>
          </p:nvPr>
        </p:nvSpPr>
        <p:spPr/>
        <p:txBody>
          <a:bodyPr/>
          <a:lstStyle/>
          <a:p>
            <a:pPr marL="0" indent="0">
              <a:buNone/>
            </a:pPr>
            <a:r>
              <a:rPr lang="en-US" dirty="0"/>
              <a:t>How do we estimate the coefficients?</a:t>
            </a:r>
            <a:br>
              <a:rPr lang="en-US" dirty="0"/>
            </a:br>
            <a:endParaRPr lang="en-US" dirty="0"/>
          </a:p>
          <a:p>
            <a:pPr marL="0" indent="0">
              <a:buNone/>
            </a:pPr>
            <a:r>
              <a:rPr lang="en-US" dirty="0"/>
              <a:t>How accurate are the coefficient estimates?</a:t>
            </a:r>
          </a:p>
          <a:p>
            <a:pPr marL="457200" lvl="1" indent="0">
              <a:buNone/>
            </a:pPr>
            <a:r>
              <a:rPr lang="en-US" dirty="0"/>
              <a:t>Are they biased or not?</a:t>
            </a:r>
          </a:p>
          <a:p>
            <a:pPr marL="457200" lvl="1" indent="0">
              <a:buNone/>
            </a:pPr>
            <a:r>
              <a:rPr lang="en-US" dirty="0"/>
              <a:t>How close are them to the true (unknown) value?</a:t>
            </a:r>
            <a:br>
              <a:rPr lang="en-US" dirty="0"/>
            </a:br>
            <a:endParaRPr lang="en-US" dirty="0"/>
          </a:p>
          <a:p>
            <a:pPr marL="457200" lvl="1" indent="0">
              <a:buNone/>
            </a:pPr>
            <a:endParaRPr lang="en-US" dirty="0"/>
          </a:p>
          <a:p>
            <a:pPr marL="0" indent="0">
              <a:buNone/>
            </a:pPr>
            <a:r>
              <a:rPr lang="en-US" dirty="0"/>
              <a:t>How accurate is the model? [Prediction]</a:t>
            </a:r>
          </a:p>
          <a:p>
            <a:endParaRPr lang="en-US" dirty="0"/>
          </a:p>
        </p:txBody>
      </p:sp>
    </p:spTree>
    <p:extLst>
      <p:ext uri="{BB962C8B-B14F-4D97-AF65-F5344CB8AC3E}">
        <p14:creationId xmlns:p14="http://schemas.microsoft.com/office/powerpoint/2010/main" val="812002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57A99-1019-7497-B2EE-74427ADC4FA1}"/>
              </a:ext>
            </a:extLst>
          </p:cNvPr>
          <p:cNvSpPr>
            <a:spLocks noGrp="1"/>
          </p:cNvSpPr>
          <p:nvPr>
            <p:ph idx="1"/>
          </p:nvPr>
        </p:nvSpPr>
        <p:spPr>
          <a:xfrm>
            <a:off x="7933038" y="210064"/>
            <a:ext cx="3818238" cy="6285633"/>
          </a:xfrm>
        </p:spPr>
        <p:txBody>
          <a:bodyPr/>
          <a:lstStyle/>
          <a:p>
            <a:pPr marL="0" indent="0">
              <a:buNone/>
            </a:pPr>
            <a:r>
              <a:rPr lang="en-US" dirty="0"/>
              <a:t>Later in the course we will see other ways of estimating the coefficients</a:t>
            </a:r>
          </a:p>
        </p:txBody>
      </p:sp>
      <p:pic>
        <p:nvPicPr>
          <p:cNvPr id="4" name="Picture 3">
            <a:extLst>
              <a:ext uri="{FF2B5EF4-FFF2-40B4-BE49-F238E27FC236}">
                <a16:creationId xmlns:a16="http://schemas.microsoft.com/office/drawing/2014/main" id="{8B9C9F1A-5129-0629-DC6D-A86BD1467A93}"/>
              </a:ext>
            </a:extLst>
          </p:cNvPr>
          <p:cNvPicPr>
            <a:picLocks noChangeAspect="1"/>
          </p:cNvPicPr>
          <p:nvPr/>
        </p:nvPicPr>
        <p:blipFill>
          <a:blip r:embed="rId2"/>
          <a:stretch>
            <a:fillRect/>
          </a:stretch>
        </p:blipFill>
        <p:spPr>
          <a:xfrm>
            <a:off x="0" y="0"/>
            <a:ext cx="7772400" cy="6158995"/>
          </a:xfrm>
          <a:prstGeom prst="rect">
            <a:avLst/>
          </a:prstGeom>
        </p:spPr>
      </p:pic>
      <p:pic>
        <p:nvPicPr>
          <p:cNvPr id="5" name="Picture 4">
            <a:extLst>
              <a:ext uri="{FF2B5EF4-FFF2-40B4-BE49-F238E27FC236}">
                <a16:creationId xmlns:a16="http://schemas.microsoft.com/office/drawing/2014/main" id="{1E4DA715-65F5-972A-704A-0A39C3848C47}"/>
              </a:ext>
            </a:extLst>
          </p:cNvPr>
          <p:cNvPicPr>
            <a:picLocks noChangeAspect="1"/>
          </p:cNvPicPr>
          <p:nvPr/>
        </p:nvPicPr>
        <p:blipFill>
          <a:blip r:embed="rId3"/>
          <a:stretch>
            <a:fillRect/>
          </a:stretch>
        </p:blipFill>
        <p:spPr>
          <a:xfrm>
            <a:off x="7355423" y="3311367"/>
            <a:ext cx="4836577" cy="3184330"/>
          </a:xfrm>
          <a:prstGeom prst="rect">
            <a:avLst/>
          </a:prstGeom>
        </p:spPr>
      </p:pic>
    </p:spTree>
    <p:extLst>
      <p:ext uri="{BB962C8B-B14F-4D97-AF65-F5344CB8AC3E}">
        <p14:creationId xmlns:p14="http://schemas.microsoft.com/office/powerpoint/2010/main" val="2658563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7A4FA-4929-D79A-EEC1-DE6E030E3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CABD8-9D65-AC38-9618-D0FF68F3B9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80A17F-1264-40C2-652B-2192C27D60B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A0A3969-1743-87BD-12BF-18CC524114C6}"/>
              </a:ext>
            </a:extLst>
          </p:cNvPr>
          <p:cNvPicPr>
            <a:picLocks noChangeAspect="1"/>
          </p:cNvPicPr>
          <p:nvPr/>
        </p:nvPicPr>
        <p:blipFill>
          <a:blip r:embed="rId3"/>
          <a:stretch>
            <a:fillRect/>
          </a:stretch>
        </p:blipFill>
        <p:spPr>
          <a:xfrm>
            <a:off x="3500115" y="98523"/>
            <a:ext cx="4836577" cy="3184330"/>
          </a:xfrm>
          <a:prstGeom prst="rect">
            <a:avLst/>
          </a:prstGeom>
        </p:spPr>
      </p:pic>
      <p:pic>
        <p:nvPicPr>
          <p:cNvPr id="5" name="Picture 4">
            <a:extLst>
              <a:ext uri="{FF2B5EF4-FFF2-40B4-BE49-F238E27FC236}">
                <a16:creationId xmlns:a16="http://schemas.microsoft.com/office/drawing/2014/main" id="{C2FD21D2-8FED-2318-8984-BD44EB0F5034}"/>
              </a:ext>
            </a:extLst>
          </p:cNvPr>
          <p:cNvPicPr>
            <a:picLocks noChangeAspect="1"/>
          </p:cNvPicPr>
          <p:nvPr/>
        </p:nvPicPr>
        <p:blipFill>
          <a:blip r:embed="rId4"/>
          <a:stretch>
            <a:fillRect/>
          </a:stretch>
        </p:blipFill>
        <p:spPr>
          <a:xfrm>
            <a:off x="1872916" y="4342802"/>
            <a:ext cx="7772400" cy="1252480"/>
          </a:xfrm>
          <a:prstGeom prst="rect">
            <a:avLst/>
          </a:prstGeom>
        </p:spPr>
      </p:pic>
    </p:spTree>
    <p:extLst>
      <p:ext uri="{BB962C8B-B14F-4D97-AF65-F5344CB8AC3E}">
        <p14:creationId xmlns:p14="http://schemas.microsoft.com/office/powerpoint/2010/main" val="2902383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7D7717-DFD0-A0AC-F742-DAAB30F687A1}"/>
              </a:ext>
            </a:extLst>
          </p:cNvPr>
          <p:cNvSpPr>
            <a:spLocks noGrp="1"/>
          </p:cNvSpPr>
          <p:nvPr>
            <p:ph idx="1"/>
          </p:nvPr>
        </p:nvSpPr>
        <p:spPr>
          <a:xfrm>
            <a:off x="838200" y="3917091"/>
            <a:ext cx="10515600" cy="2259871"/>
          </a:xfrm>
        </p:spPr>
        <p:txBody>
          <a:bodyPr/>
          <a:lstStyle/>
          <a:p>
            <a:pPr marL="0" indent="0">
              <a:buNone/>
            </a:pPr>
            <a:endParaRPr lang="en-US"/>
          </a:p>
          <a:p>
            <a:pPr marL="0" indent="0">
              <a:buNone/>
            </a:pPr>
            <a:endParaRPr lang="en-US"/>
          </a:p>
          <a:p>
            <a:pPr marL="0" indent="0">
              <a:buNone/>
            </a:pPr>
            <a:r>
              <a:rPr lang="en-US"/>
              <a:t>What do these values mean, practically?</a:t>
            </a:r>
          </a:p>
        </p:txBody>
      </p:sp>
      <p:pic>
        <p:nvPicPr>
          <p:cNvPr id="4" name="Picture 3">
            <a:extLst>
              <a:ext uri="{FF2B5EF4-FFF2-40B4-BE49-F238E27FC236}">
                <a16:creationId xmlns:a16="http://schemas.microsoft.com/office/drawing/2014/main" id="{DECDB16B-0B60-17D6-DE2B-041373221732}"/>
              </a:ext>
            </a:extLst>
          </p:cNvPr>
          <p:cNvPicPr>
            <a:picLocks noChangeAspect="1"/>
          </p:cNvPicPr>
          <p:nvPr/>
        </p:nvPicPr>
        <p:blipFill>
          <a:blip r:embed="rId3"/>
          <a:stretch>
            <a:fillRect/>
          </a:stretch>
        </p:blipFill>
        <p:spPr>
          <a:xfrm>
            <a:off x="3500115" y="98523"/>
            <a:ext cx="4836577" cy="3184330"/>
          </a:xfrm>
          <a:prstGeom prst="rect">
            <a:avLst/>
          </a:prstGeom>
        </p:spPr>
      </p:pic>
      <p:pic>
        <p:nvPicPr>
          <p:cNvPr id="5" name="Picture 4">
            <a:extLst>
              <a:ext uri="{FF2B5EF4-FFF2-40B4-BE49-F238E27FC236}">
                <a16:creationId xmlns:a16="http://schemas.microsoft.com/office/drawing/2014/main" id="{BAF6A2EC-1C59-9698-95E4-775065092F2A}"/>
              </a:ext>
            </a:extLst>
          </p:cNvPr>
          <p:cNvPicPr>
            <a:picLocks noChangeAspect="1"/>
          </p:cNvPicPr>
          <p:nvPr/>
        </p:nvPicPr>
        <p:blipFill>
          <a:blip r:embed="rId4"/>
          <a:stretch>
            <a:fillRect/>
          </a:stretch>
        </p:blipFill>
        <p:spPr>
          <a:xfrm>
            <a:off x="2287265" y="3725340"/>
            <a:ext cx="2425700" cy="635000"/>
          </a:xfrm>
          <a:prstGeom prst="rect">
            <a:avLst/>
          </a:prstGeom>
        </p:spPr>
      </p:pic>
      <p:pic>
        <p:nvPicPr>
          <p:cNvPr id="6" name="Picture 5">
            <a:extLst>
              <a:ext uri="{FF2B5EF4-FFF2-40B4-BE49-F238E27FC236}">
                <a16:creationId xmlns:a16="http://schemas.microsoft.com/office/drawing/2014/main" id="{6BC3C940-C36E-9B68-BCBE-130D6D01EC23}"/>
              </a:ext>
            </a:extLst>
          </p:cNvPr>
          <p:cNvPicPr>
            <a:picLocks noChangeAspect="1"/>
          </p:cNvPicPr>
          <p:nvPr/>
        </p:nvPicPr>
        <p:blipFill>
          <a:blip r:embed="rId5"/>
          <a:stretch>
            <a:fillRect/>
          </a:stretch>
        </p:blipFill>
        <p:spPr>
          <a:xfrm>
            <a:off x="6789454" y="3761435"/>
            <a:ext cx="2755900" cy="635000"/>
          </a:xfrm>
          <a:prstGeom prst="rect">
            <a:avLst/>
          </a:prstGeom>
        </p:spPr>
      </p:pic>
      <p:pic>
        <p:nvPicPr>
          <p:cNvPr id="7" name="Picture 6">
            <a:extLst>
              <a:ext uri="{FF2B5EF4-FFF2-40B4-BE49-F238E27FC236}">
                <a16:creationId xmlns:a16="http://schemas.microsoft.com/office/drawing/2014/main" id="{F163FE51-76F3-0056-B779-556CA81403D2}"/>
              </a:ext>
            </a:extLst>
          </p:cNvPr>
          <p:cNvPicPr>
            <a:picLocks noChangeAspect="1"/>
          </p:cNvPicPr>
          <p:nvPr/>
        </p:nvPicPr>
        <p:blipFill>
          <a:blip r:embed="rId6"/>
          <a:stretch>
            <a:fillRect/>
          </a:stretch>
        </p:blipFill>
        <p:spPr>
          <a:xfrm>
            <a:off x="354011" y="898526"/>
            <a:ext cx="3405307" cy="1158874"/>
          </a:xfrm>
          <a:prstGeom prst="rect">
            <a:avLst/>
          </a:prstGeom>
        </p:spPr>
      </p:pic>
    </p:spTree>
    <p:extLst>
      <p:ext uri="{BB962C8B-B14F-4D97-AF65-F5344CB8AC3E}">
        <p14:creationId xmlns:p14="http://schemas.microsoft.com/office/powerpoint/2010/main" val="3460402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059B7-C6AA-943D-EA88-31C4249262C1}"/>
              </a:ext>
            </a:extLst>
          </p:cNvPr>
          <p:cNvSpPr>
            <a:spLocks noGrp="1"/>
          </p:cNvSpPr>
          <p:nvPr>
            <p:ph type="title"/>
          </p:nvPr>
        </p:nvSpPr>
        <p:spPr/>
        <p:txBody>
          <a:bodyPr/>
          <a:lstStyle/>
          <a:p>
            <a:r>
              <a:rPr lang="en-US"/>
              <a:t>Random variables and estimators…</a:t>
            </a:r>
          </a:p>
        </p:txBody>
      </p:sp>
      <p:sp>
        <p:nvSpPr>
          <p:cNvPr id="3" name="Content Placeholder 2">
            <a:extLst>
              <a:ext uri="{FF2B5EF4-FFF2-40B4-BE49-F238E27FC236}">
                <a16:creationId xmlns:a16="http://schemas.microsoft.com/office/drawing/2014/main" id="{795D5242-13E8-F4D1-4831-7DAC2992E7E3}"/>
              </a:ext>
            </a:extLst>
          </p:cNvPr>
          <p:cNvSpPr>
            <a:spLocks noGrp="1"/>
          </p:cNvSpPr>
          <p:nvPr>
            <p:ph idx="1"/>
          </p:nvPr>
        </p:nvSpPr>
        <p:spPr>
          <a:xfrm>
            <a:off x="838200" y="1825625"/>
            <a:ext cx="10515600" cy="4667250"/>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Y</a:t>
            </a:r>
            <a:r>
              <a:rPr lang="en-US" dirty="0"/>
              <a:t> is a random variable, its mean is generally unknown</a:t>
            </a:r>
          </a:p>
          <a:p>
            <a:pPr marL="0" indent="0">
              <a:buNone/>
            </a:pPr>
            <a:endParaRPr lang="en-US" dirty="0"/>
          </a:p>
          <a:p>
            <a:pPr marL="0" indent="0">
              <a:buNone/>
            </a:pPr>
            <a:r>
              <a:rPr lang="en-US" dirty="0"/>
              <a:t>If we have access to </a:t>
            </a:r>
            <a:r>
              <a:rPr lang="en-US" i="1" dirty="0">
                <a:latin typeface="Times New Roman" panose="02020603050405020304" pitchFamily="18" charset="0"/>
                <a:cs typeface="Times New Roman" panose="02020603050405020304" pitchFamily="18" charset="0"/>
              </a:rPr>
              <a:t>n</a:t>
            </a:r>
            <a:r>
              <a:rPr lang="en-US" dirty="0"/>
              <a:t> observations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1</a:t>
            </a:r>
            <a:r>
              <a:rPr lang="en-US" i="1"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y</a:t>
            </a:r>
            <a:r>
              <a:rPr lang="en-US" i="1" baseline="-25000" dirty="0" err="1">
                <a:latin typeface="Times New Roman" panose="02020603050405020304" pitchFamily="18" charset="0"/>
                <a:cs typeface="Times New Roman" panose="02020603050405020304" pitchFamily="18" charset="0"/>
              </a:rPr>
              <a:t>n</a:t>
            </a:r>
            <a:r>
              <a:rPr lang="en-US" i="1" dirty="0">
                <a:latin typeface="Times New Roman" panose="02020603050405020304" pitchFamily="18" charset="0"/>
                <a:cs typeface="Times New Roman" panose="02020603050405020304" pitchFamily="18" charset="0"/>
              </a:rPr>
              <a:t> </a:t>
            </a:r>
            <a:r>
              <a:rPr lang="en-US" dirty="0"/>
              <a:t>from Y, we can estimate the mean of Y using the population mean: </a:t>
            </a:r>
            <a:br>
              <a:rPr lang="en-US" dirty="0"/>
            </a:br>
            <a:br>
              <a:rPr lang="en-US" dirty="0"/>
            </a:br>
            <a:br>
              <a:rPr lang="en-US" dirty="0"/>
            </a:br>
            <a:br>
              <a:rPr lang="en-US" dirty="0"/>
            </a:br>
            <a:br>
              <a:rPr lang="en-US" dirty="0"/>
            </a:br>
            <a:r>
              <a:rPr lang="en-US" dirty="0"/>
              <a:t>The population mean is an “unbiased” estimator: for some populations the mean overestimates the true one, for others it underestimates, but if  if we could average the mean of a large number of populations, we will obtain exactly the mean of Y</a:t>
            </a:r>
          </a:p>
          <a:p>
            <a:pPr marL="0" indent="0">
              <a:buNone/>
            </a:pPr>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DE7CBE43-1B2B-6159-D76C-08514DD3BAA2}"/>
              </a:ext>
            </a:extLst>
          </p:cNvPr>
          <p:cNvPicPr>
            <a:picLocks noChangeAspect="1"/>
          </p:cNvPicPr>
          <p:nvPr/>
        </p:nvPicPr>
        <p:blipFill>
          <a:blip r:embed="rId3"/>
          <a:stretch>
            <a:fillRect/>
          </a:stretch>
        </p:blipFill>
        <p:spPr>
          <a:xfrm>
            <a:off x="4629150" y="3811385"/>
            <a:ext cx="2933700" cy="749300"/>
          </a:xfrm>
          <a:prstGeom prst="rect">
            <a:avLst/>
          </a:prstGeom>
        </p:spPr>
      </p:pic>
    </p:spTree>
    <p:extLst>
      <p:ext uri="{BB962C8B-B14F-4D97-AF65-F5344CB8AC3E}">
        <p14:creationId xmlns:p14="http://schemas.microsoft.com/office/powerpoint/2010/main" val="124093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059B7-C6AA-943D-EA88-31C4249262C1}"/>
              </a:ext>
            </a:extLst>
          </p:cNvPr>
          <p:cNvSpPr>
            <a:spLocks noGrp="1"/>
          </p:cNvSpPr>
          <p:nvPr>
            <p:ph type="title"/>
          </p:nvPr>
        </p:nvSpPr>
        <p:spPr/>
        <p:txBody>
          <a:bodyPr/>
          <a:lstStyle/>
          <a:p>
            <a:r>
              <a:rPr lang="en-US"/>
              <a:t>Random variables and estimators (continued)</a:t>
            </a:r>
          </a:p>
        </p:txBody>
      </p:sp>
      <p:sp>
        <p:nvSpPr>
          <p:cNvPr id="3" name="Content Placeholder 2">
            <a:extLst>
              <a:ext uri="{FF2B5EF4-FFF2-40B4-BE49-F238E27FC236}">
                <a16:creationId xmlns:a16="http://schemas.microsoft.com/office/drawing/2014/main" id="{795D5242-13E8-F4D1-4831-7DAC2992E7E3}"/>
              </a:ext>
            </a:extLst>
          </p:cNvPr>
          <p:cNvSpPr>
            <a:spLocks noGrp="1"/>
          </p:cNvSpPr>
          <p:nvPr>
            <p:ph idx="1"/>
          </p:nvPr>
        </p:nvSpPr>
        <p:spPr>
          <a:xfrm>
            <a:off x="838200" y="1825625"/>
            <a:ext cx="10515600" cy="4667250"/>
          </a:xfrm>
        </p:spPr>
        <p:txBody>
          <a:bodyPr>
            <a:normAutofit/>
          </a:bodyPr>
          <a:lstStyle/>
          <a:p>
            <a:pPr marL="0" indent="0">
              <a:buNone/>
            </a:pPr>
            <a:r>
              <a:rPr lang="en-US" dirty="0"/>
              <a:t>If we have access to only one population, how far is the population mean from the true mean of the random variable Y?</a:t>
            </a:r>
          </a:p>
          <a:p>
            <a:pPr marL="0" indent="0">
              <a:buNone/>
            </a:pPr>
            <a:endParaRPr lang="en-US" dirty="0"/>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5F206D36-DF97-C8CF-2319-F2BC83A86164}"/>
              </a:ext>
            </a:extLst>
          </p:cNvPr>
          <p:cNvPicPr>
            <a:picLocks noChangeAspect="1"/>
          </p:cNvPicPr>
          <p:nvPr/>
        </p:nvPicPr>
        <p:blipFill>
          <a:blip r:embed="rId2"/>
          <a:stretch>
            <a:fillRect/>
          </a:stretch>
        </p:blipFill>
        <p:spPr>
          <a:xfrm>
            <a:off x="4428028" y="3466407"/>
            <a:ext cx="3568700" cy="876300"/>
          </a:xfrm>
          <a:prstGeom prst="rect">
            <a:avLst/>
          </a:prstGeom>
        </p:spPr>
      </p:pic>
    </p:spTree>
    <p:extLst>
      <p:ext uri="{BB962C8B-B14F-4D97-AF65-F5344CB8AC3E}">
        <p14:creationId xmlns:p14="http://schemas.microsoft.com/office/powerpoint/2010/main" val="8350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3F2B3-B5F9-E334-C006-9CEEE7E04B87}"/>
              </a:ext>
            </a:extLst>
          </p:cNvPr>
          <p:cNvSpPr>
            <a:spLocks noGrp="1"/>
          </p:cNvSpPr>
          <p:nvPr>
            <p:ph type="title"/>
          </p:nvPr>
        </p:nvSpPr>
        <p:spPr/>
        <p:txBody>
          <a:bodyPr/>
          <a:lstStyle/>
          <a:p>
            <a:r>
              <a:rPr lang="en-US"/>
              <a:t>Assessing the accuracy of the coefficients in simple linear regression</a:t>
            </a:r>
          </a:p>
        </p:txBody>
      </p:sp>
      <p:sp>
        <p:nvSpPr>
          <p:cNvPr id="3" name="Content Placeholder 2">
            <a:extLst>
              <a:ext uri="{FF2B5EF4-FFF2-40B4-BE49-F238E27FC236}">
                <a16:creationId xmlns:a16="http://schemas.microsoft.com/office/drawing/2014/main" id="{D3D12F48-9E8C-D295-F6B2-B40703E195C3}"/>
              </a:ext>
            </a:extLst>
          </p:cNvPr>
          <p:cNvSpPr>
            <a:spLocks noGrp="1"/>
          </p:cNvSpPr>
          <p:nvPr>
            <p:ph idx="1"/>
          </p:nvPr>
        </p:nvSpPr>
        <p:spPr/>
        <p:txBody>
          <a:bodyPr/>
          <a:lstStyle/>
          <a:p>
            <a:pPr marL="0" indent="0">
              <a:buNone/>
            </a:pPr>
            <a:r>
              <a:rPr lang="en-US" dirty="0"/>
              <a:t>What about the coefficients of a simple regression model calculated from a set of observations…</a:t>
            </a:r>
          </a:p>
          <a:p>
            <a:pPr marL="0" indent="0">
              <a:buNone/>
            </a:pPr>
            <a:endParaRPr lang="en-US" dirty="0"/>
          </a:p>
          <a:p>
            <a:pPr marL="0" indent="0">
              <a:buNone/>
            </a:pPr>
            <a:r>
              <a:rPr lang="en-US" dirty="0"/>
              <a:t>Are they unbiased?</a:t>
            </a:r>
          </a:p>
          <a:p>
            <a:pPr marL="0" indent="0">
              <a:buNone/>
            </a:pPr>
            <a:endParaRPr lang="en-US" dirty="0"/>
          </a:p>
          <a:p>
            <a:pPr marL="0" indent="0">
              <a:buNone/>
            </a:pPr>
            <a:r>
              <a:rPr lang="en-US" dirty="0"/>
              <a:t>How far are they from the true value?</a:t>
            </a:r>
          </a:p>
        </p:txBody>
      </p:sp>
    </p:spTree>
    <p:extLst>
      <p:ext uri="{BB962C8B-B14F-4D97-AF65-F5344CB8AC3E}">
        <p14:creationId xmlns:p14="http://schemas.microsoft.com/office/powerpoint/2010/main" val="314948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DA00D-7FDD-B914-ABAA-5B36B445635E}"/>
              </a:ext>
            </a:extLst>
          </p:cNvPr>
          <p:cNvSpPr>
            <a:spLocks noGrp="1"/>
          </p:cNvSpPr>
          <p:nvPr>
            <p:ph type="title"/>
          </p:nvPr>
        </p:nvSpPr>
        <p:spPr/>
        <p:txBody>
          <a:bodyPr/>
          <a:lstStyle/>
          <a:p>
            <a:r>
              <a:rPr lang="en-US"/>
              <a:t>The coefficient estimates are unbiased</a:t>
            </a:r>
          </a:p>
        </p:txBody>
      </p:sp>
      <p:sp>
        <p:nvSpPr>
          <p:cNvPr id="3" name="Content Placeholder 2">
            <a:extLst>
              <a:ext uri="{FF2B5EF4-FFF2-40B4-BE49-F238E27FC236}">
                <a16:creationId xmlns:a16="http://schemas.microsoft.com/office/drawing/2014/main" id="{D4862373-61D8-959B-87B3-58F25FF88B4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77D8513-A145-64F5-6DEF-F0329A6ED438}"/>
              </a:ext>
            </a:extLst>
          </p:cNvPr>
          <p:cNvPicPr>
            <a:picLocks noChangeAspect="1"/>
          </p:cNvPicPr>
          <p:nvPr/>
        </p:nvPicPr>
        <p:blipFill>
          <a:blip r:embed="rId2"/>
          <a:stretch>
            <a:fillRect/>
          </a:stretch>
        </p:blipFill>
        <p:spPr>
          <a:xfrm>
            <a:off x="1526894" y="2008243"/>
            <a:ext cx="7772400" cy="3986102"/>
          </a:xfrm>
          <a:prstGeom prst="rect">
            <a:avLst/>
          </a:prstGeom>
        </p:spPr>
      </p:pic>
    </p:spTree>
    <p:extLst>
      <p:ext uri="{BB962C8B-B14F-4D97-AF65-F5344CB8AC3E}">
        <p14:creationId xmlns:p14="http://schemas.microsoft.com/office/powerpoint/2010/main" val="3839764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DF6FB-DB2D-EBC9-6000-1C861A308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39454-908E-F0E6-8135-7B3B9F675D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15BDDD-7FF5-34E0-3D54-DB03104E891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2E288AD-ABF9-A7B7-4AA7-4268F34C4BB6}"/>
              </a:ext>
            </a:extLst>
          </p:cNvPr>
          <p:cNvPicPr>
            <a:picLocks noChangeAspect="1"/>
          </p:cNvPicPr>
          <p:nvPr/>
        </p:nvPicPr>
        <p:blipFill>
          <a:blip r:embed="rId3"/>
          <a:stretch>
            <a:fillRect/>
          </a:stretch>
        </p:blipFill>
        <p:spPr>
          <a:xfrm>
            <a:off x="3500115" y="98523"/>
            <a:ext cx="4836577" cy="3184330"/>
          </a:xfrm>
          <a:prstGeom prst="rect">
            <a:avLst/>
          </a:prstGeom>
        </p:spPr>
      </p:pic>
      <p:pic>
        <p:nvPicPr>
          <p:cNvPr id="5" name="Picture 4">
            <a:extLst>
              <a:ext uri="{FF2B5EF4-FFF2-40B4-BE49-F238E27FC236}">
                <a16:creationId xmlns:a16="http://schemas.microsoft.com/office/drawing/2014/main" id="{459FC811-D4C2-7F77-11D5-E6291AF7C83B}"/>
              </a:ext>
            </a:extLst>
          </p:cNvPr>
          <p:cNvPicPr>
            <a:picLocks noChangeAspect="1"/>
          </p:cNvPicPr>
          <p:nvPr/>
        </p:nvPicPr>
        <p:blipFill>
          <a:blip r:embed="rId4"/>
          <a:stretch>
            <a:fillRect/>
          </a:stretch>
        </p:blipFill>
        <p:spPr>
          <a:xfrm>
            <a:off x="1872916" y="4342802"/>
            <a:ext cx="7772400" cy="1252480"/>
          </a:xfrm>
          <a:prstGeom prst="rect">
            <a:avLst/>
          </a:prstGeom>
        </p:spPr>
      </p:pic>
    </p:spTree>
    <p:extLst>
      <p:ext uri="{BB962C8B-B14F-4D97-AF65-F5344CB8AC3E}">
        <p14:creationId xmlns:p14="http://schemas.microsoft.com/office/powerpoint/2010/main" val="4279475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1ECD2-BB92-E5F8-16D8-AD0F7800F773}"/>
              </a:ext>
            </a:extLst>
          </p:cNvPr>
          <p:cNvSpPr>
            <a:spLocks noGrp="1"/>
          </p:cNvSpPr>
          <p:nvPr>
            <p:ph type="title"/>
          </p:nvPr>
        </p:nvSpPr>
        <p:spPr/>
        <p:txBody>
          <a:bodyPr/>
          <a:lstStyle/>
          <a:p>
            <a:r>
              <a:rPr lang="en-US"/>
              <a:t>Standard errors of the coefficients</a:t>
            </a:r>
          </a:p>
        </p:txBody>
      </p:sp>
      <p:sp>
        <p:nvSpPr>
          <p:cNvPr id="3" name="Content Placeholder 2">
            <a:extLst>
              <a:ext uri="{FF2B5EF4-FFF2-40B4-BE49-F238E27FC236}">
                <a16:creationId xmlns:a16="http://schemas.microsoft.com/office/drawing/2014/main" id="{FFDE9F8F-7EFC-6CBC-1E3A-835A5C713CB7}"/>
              </a:ext>
            </a:extLst>
          </p:cNvPr>
          <p:cNvSpPr>
            <a:spLocks noGrp="1"/>
          </p:cNvSpPr>
          <p:nvPr>
            <p:ph idx="1"/>
          </p:nvPr>
        </p:nvSpPr>
        <p:spPr>
          <a:xfrm>
            <a:off x="838200" y="4259483"/>
            <a:ext cx="10515600" cy="1917479"/>
          </a:xfrm>
        </p:spPr>
        <p:txBody>
          <a:bodyPr/>
          <a:lstStyle/>
          <a:p>
            <a:pPr marL="0" indent="0">
              <a:buNone/>
            </a:pPr>
            <a:r>
              <a:rPr lang="en-US" dirty="0"/>
              <a:t>The variance of the standard error </a:t>
            </a:r>
            <a:r>
              <a:rPr lang="en-US" i="1" dirty="0">
                <a:latin typeface="Courier New" panose="02070309020205020404" pitchFamily="49" charset="0"/>
                <a:cs typeface="Courier New" panose="02070309020205020404" pitchFamily="49" charset="0"/>
              </a:rPr>
              <a:t>σ</a:t>
            </a:r>
            <a:r>
              <a:rPr lang="en-US" i="1" baseline="30000" dirty="0">
                <a:latin typeface="Courier New" panose="02070309020205020404" pitchFamily="49" charset="0"/>
                <a:cs typeface="Courier New" panose="02070309020205020404" pitchFamily="49" charset="0"/>
              </a:rPr>
              <a:t>2</a:t>
            </a:r>
            <a:r>
              <a:rPr lang="en-US" dirty="0"/>
              <a:t> is unknown, but we can estimate it from the data as </a:t>
            </a:r>
          </a:p>
        </p:txBody>
      </p:sp>
      <p:pic>
        <p:nvPicPr>
          <p:cNvPr id="4" name="Picture 3">
            <a:extLst>
              <a:ext uri="{FF2B5EF4-FFF2-40B4-BE49-F238E27FC236}">
                <a16:creationId xmlns:a16="http://schemas.microsoft.com/office/drawing/2014/main" id="{B769BB34-DC1C-6463-2148-12AB679EF8AE}"/>
              </a:ext>
            </a:extLst>
          </p:cNvPr>
          <p:cNvPicPr>
            <a:picLocks noChangeAspect="1"/>
          </p:cNvPicPr>
          <p:nvPr/>
        </p:nvPicPr>
        <p:blipFill>
          <a:blip r:embed="rId2"/>
          <a:stretch>
            <a:fillRect/>
          </a:stretch>
        </p:blipFill>
        <p:spPr>
          <a:xfrm>
            <a:off x="1619491" y="1887627"/>
            <a:ext cx="7772400" cy="1421780"/>
          </a:xfrm>
          <a:prstGeom prst="rect">
            <a:avLst/>
          </a:prstGeom>
        </p:spPr>
      </p:pic>
      <p:pic>
        <p:nvPicPr>
          <p:cNvPr id="5" name="Picture 4">
            <a:extLst>
              <a:ext uri="{FF2B5EF4-FFF2-40B4-BE49-F238E27FC236}">
                <a16:creationId xmlns:a16="http://schemas.microsoft.com/office/drawing/2014/main" id="{297C8A77-E66F-8DEE-8A61-64B37F403BCA}"/>
              </a:ext>
            </a:extLst>
          </p:cNvPr>
          <p:cNvPicPr>
            <a:picLocks noChangeAspect="1"/>
          </p:cNvPicPr>
          <p:nvPr/>
        </p:nvPicPr>
        <p:blipFill>
          <a:blip r:embed="rId3"/>
          <a:stretch>
            <a:fillRect/>
          </a:stretch>
        </p:blipFill>
        <p:spPr>
          <a:xfrm>
            <a:off x="4521200" y="5446402"/>
            <a:ext cx="3149600" cy="431800"/>
          </a:xfrm>
          <a:prstGeom prst="rect">
            <a:avLst/>
          </a:prstGeom>
        </p:spPr>
      </p:pic>
      <p:pic>
        <p:nvPicPr>
          <p:cNvPr id="6" name="Picture 5">
            <a:extLst>
              <a:ext uri="{FF2B5EF4-FFF2-40B4-BE49-F238E27FC236}">
                <a16:creationId xmlns:a16="http://schemas.microsoft.com/office/drawing/2014/main" id="{2CF98C6F-24FB-2DB1-006E-1D32C1E27AC9}"/>
              </a:ext>
            </a:extLst>
          </p:cNvPr>
          <p:cNvPicPr>
            <a:picLocks noChangeAspect="1"/>
          </p:cNvPicPr>
          <p:nvPr/>
        </p:nvPicPr>
        <p:blipFill>
          <a:blip r:embed="rId4"/>
          <a:stretch>
            <a:fillRect/>
          </a:stretch>
        </p:blipFill>
        <p:spPr>
          <a:xfrm>
            <a:off x="417512" y="6276975"/>
            <a:ext cx="6756400" cy="431800"/>
          </a:xfrm>
          <a:prstGeom prst="rect">
            <a:avLst/>
          </a:prstGeom>
        </p:spPr>
      </p:pic>
      <p:pic>
        <p:nvPicPr>
          <p:cNvPr id="7" name="Picture 6">
            <a:extLst>
              <a:ext uri="{FF2B5EF4-FFF2-40B4-BE49-F238E27FC236}">
                <a16:creationId xmlns:a16="http://schemas.microsoft.com/office/drawing/2014/main" id="{8A67ECB0-7D09-B613-BB7B-0B1B308ACE75}"/>
              </a:ext>
            </a:extLst>
          </p:cNvPr>
          <p:cNvPicPr>
            <a:picLocks noChangeAspect="1"/>
          </p:cNvPicPr>
          <p:nvPr/>
        </p:nvPicPr>
        <p:blipFill>
          <a:blip r:embed="rId5"/>
          <a:stretch>
            <a:fillRect/>
          </a:stretch>
        </p:blipFill>
        <p:spPr>
          <a:xfrm>
            <a:off x="9039193" y="4793673"/>
            <a:ext cx="3079781" cy="2027682"/>
          </a:xfrm>
          <a:prstGeom prst="rect">
            <a:avLst/>
          </a:prstGeom>
        </p:spPr>
      </p:pic>
    </p:spTree>
    <p:extLst>
      <p:ext uri="{BB962C8B-B14F-4D97-AF65-F5344CB8AC3E}">
        <p14:creationId xmlns:p14="http://schemas.microsoft.com/office/powerpoint/2010/main" val="742487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35DBD-0030-9226-78E6-4644088D2B49}"/>
              </a:ext>
            </a:extLst>
          </p:cNvPr>
          <p:cNvSpPr>
            <a:spLocks noGrp="1"/>
          </p:cNvSpPr>
          <p:nvPr>
            <p:ph type="title"/>
          </p:nvPr>
        </p:nvSpPr>
        <p:spPr/>
        <p:txBody>
          <a:bodyPr/>
          <a:lstStyle/>
          <a:p>
            <a:r>
              <a:rPr lang="en-US"/>
              <a:t>Confidence intervals</a:t>
            </a:r>
          </a:p>
        </p:txBody>
      </p:sp>
      <p:sp>
        <p:nvSpPr>
          <p:cNvPr id="3" name="Content Placeholder 2">
            <a:extLst>
              <a:ext uri="{FF2B5EF4-FFF2-40B4-BE49-F238E27FC236}">
                <a16:creationId xmlns:a16="http://schemas.microsoft.com/office/drawing/2014/main" id="{6D63C674-D472-013C-BEE0-C9DC6BADFA73}"/>
              </a:ext>
            </a:extLst>
          </p:cNvPr>
          <p:cNvSpPr>
            <a:spLocks noGrp="1"/>
          </p:cNvSpPr>
          <p:nvPr>
            <p:ph idx="1"/>
          </p:nvPr>
        </p:nvSpPr>
        <p:spPr/>
        <p:txBody>
          <a:bodyPr/>
          <a:lstStyle/>
          <a:p>
            <a:pPr marL="0" indent="0">
              <a:buNone/>
            </a:pPr>
            <a:r>
              <a:rPr lang="en-US" dirty="0"/>
              <a:t>Given an estimate of the coefficients from a set of observations, we can compute 95% confidence intervals as follows:</a:t>
            </a:r>
          </a:p>
          <a:p>
            <a:endParaRPr lang="en-US" dirty="0"/>
          </a:p>
          <a:p>
            <a:endParaRPr lang="en-US" dirty="0"/>
          </a:p>
          <a:p>
            <a:pPr marL="0" indent="0">
              <a:buNone/>
            </a:pPr>
            <a:r>
              <a:rPr lang="en-US" dirty="0"/>
              <a:t>There is a 95% chance that the true value of </a:t>
            </a:r>
            <a:r>
              <a:rPr lang="en-US" i="1" dirty="0">
                <a:latin typeface="Courier New" panose="02070309020205020404" pitchFamily="49" charset="0"/>
                <a:cs typeface="Courier New" panose="02070309020205020404" pitchFamily="49" charset="0"/>
              </a:rPr>
              <a:t>β</a:t>
            </a:r>
            <a:r>
              <a:rPr lang="en-US" i="1" baseline="-25000" dirty="0">
                <a:latin typeface="Courier New" panose="02070309020205020404" pitchFamily="49" charset="0"/>
                <a:cs typeface="Courier New" panose="02070309020205020404" pitchFamily="49" charset="0"/>
              </a:rPr>
              <a:t>1</a:t>
            </a:r>
            <a:r>
              <a:rPr lang="en-US" dirty="0"/>
              <a:t> (similar for </a:t>
            </a:r>
            <a:r>
              <a:rPr lang="en-US" i="1" dirty="0">
                <a:latin typeface="Courier New" panose="02070309020205020404" pitchFamily="49" charset="0"/>
                <a:cs typeface="Courier New" panose="02070309020205020404" pitchFamily="49" charset="0"/>
              </a:rPr>
              <a:t>β</a:t>
            </a:r>
            <a:r>
              <a:rPr lang="en-US" i="1" baseline="-25000" dirty="0">
                <a:latin typeface="Courier New" panose="02070309020205020404" pitchFamily="49" charset="0"/>
                <a:cs typeface="Courier New" panose="02070309020205020404" pitchFamily="49" charset="0"/>
              </a:rPr>
              <a:t>0</a:t>
            </a:r>
            <a:r>
              <a:rPr lang="en-US" dirty="0"/>
              <a:t>) falls in the interval:</a:t>
            </a:r>
          </a:p>
          <a:p>
            <a:pPr marL="0" indent="0">
              <a:buNone/>
            </a:pPr>
            <a:endParaRPr lang="en-US" dirty="0"/>
          </a:p>
        </p:txBody>
      </p:sp>
      <p:pic>
        <p:nvPicPr>
          <p:cNvPr id="4" name="Picture 3">
            <a:extLst>
              <a:ext uri="{FF2B5EF4-FFF2-40B4-BE49-F238E27FC236}">
                <a16:creationId xmlns:a16="http://schemas.microsoft.com/office/drawing/2014/main" id="{93078C49-7C2E-4868-9573-730BCD18CB49}"/>
              </a:ext>
            </a:extLst>
          </p:cNvPr>
          <p:cNvPicPr>
            <a:picLocks noChangeAspect="1"/>
          </p:cNvPicPr>
          <p:nvPr/>
        </p:nvPicPr>
        <p:blipFill>
          <a:blip r:embed="rId2"/>
          <a:stretch>
            <a:fillRect/>
          </a:stretch>
        </p:blipFill>
        <p:spPr>
          <a:xfrm>
            <a:off x="5003800" y="2781300"/>
            <a:ext cx="2184400" cy="647700"/>
          </a:xfrm>
          <a:prstGeom prst="rect">
            <a:avLst/>
          </a:prstGeom>
        </p:spPr>
      </p:pic>
      <p:pic>
        <p:nvPicPr>
          <p:cNvPr id="5" name="Picture 4">
            <a:extLst>
              <a:ext uri="{FF2B5EF4-FFF2-40B4-BE49-F238E27FC236}">
                <a16:creationId xmlns:a16="http://schemas.microsoft.com/office/drawing/2014/main" id="{2A330351-7E20-CB87-FD45-C0006899C59F}"/>
              </a:ext>
            </a:extLst>
          </p:cNvPr>
          <p:cNvPicPr>
            <a:picLocks noChangeAspect="1"/>
          </p:cNvPicPr>
          <p:nvPr/>
        </p:nvPicPr>
        <p:blipFill>
          <a:blip r:embed="rId3"/>
          <a:stretch>
            <a:fillRect/>
          </a:stretch>
        </p:blipFill>
        <p:spPr>
          <a:xfrm>
            <a:off x="2241550" y="2781300"/>
            <a:ext cx="2184400" cy="647700"/>
          </a:xfrm>
          <a:prstGeom prst="rect">
            <a:avLst/>
          </a:prstGeom>
        </p:spPr>
      </p:pic>
      <p:pic>
        <p:nvPicPr>
          <p:cNvPr id="6" name="Picture 5">
            <a:extLst>
              <a:ext uri="{FF2B5EF4-FFF2-40B4-BE49-F238E27FC236}">
                <a16:creationId xmlns:a16="http://schemas.microsoft.com/office/drawing/2014/main" id="{E7B68B78-3356-9B1F-0BA9-DD973420D60D}"/>
              </a:ext>
            </a:extLst>
          </p:cNvPr>
          <p:cNvPicPr>
            <a:picLocks noChangeAspect="1"/>
          </p:cNvPicPr>
          <p:nvPr/>
        </p:nvPicPr>
        <p:blipFill>
          <a:blip r:embed="rId4"/>
          <a:stretch>
            <a:fillRect/>
          </a:stretch>
        </p:blipFill>
        <p:spPr>
          <a:xfrm>
            <a:off x="2498725" y="5348288"/>
            <a:ext cx="4508500" cy="647700"/>
          </a:xfrm>
          <a:prstGeom prst="rect">
            <a:avLst/>
          </a:prstGeom>
        </p:spPr>
      </p:pic>
    </p:spTree>
    <p:extLst>
      <p:ext uri="{BB962C8B-B14F-4D97-AF65-F5344CB8AC3E}">
        <p14:creationId xmlns:p14="http://schemas.microsoft.com/office/powerpoint/2010/main" val="43381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19718-836F-8FD6-896A-DC199F3FF549}"/>
              </a:ext>
            </a:extLst>
          </p:cNvPr>
          <p:cNvSpPr>
            <a:spLocks noGrp="1"/>
          </p:cNvSpPr>
          <p:nvPr>
            <p:ph type="title"/>
          </p:nvPr>
        </p:nvSpPr>
        <p:spPr/>
        <p:txBody>
          <a:bodyPr/>
          <a:lstStyle/>
          <a:p>
            <a:r>
              <a:rPr lang="en-US"/>
              <a:t>Hypothesis testing</a:t>
            </a:r>
          </a:p>
        </p:txBody>
      </p:sp>
      <p:sp>
        <p:nvSpPr>
          <p:cNvPr id="3" name="Content Placeholder 2">
            <a:extLst>
              <a:ext uri="{FF2B5EF4-FFF2-40B4-BE49-F238E27FC236}">
                <a16:creationId xmlns:a16="http://schemas.microsoft.com/office/drawing/2014/main" id="{F40B58C8-397A-4C1D-0511-D77B54093A08}"/>
              </a:ext>
            </a:extLst>
          </p:cNvPr>
          <p:cNvSpPr>
            <a:spLocks noGrp="1"/>
          </p:cNvSpPr>
          <p:nvPr>
            <p:ph idx="1"/>
          </p:nvPr>
        </p:nvSpPr>
        <p:spPr/>
        <p:txBody>
          <a:bodyPr/>
          <a:lstStyle/>
          <a:p>
            <a:pPr marL="0" indent="0">
              <a:buNone/>
            </a:pPr>
            <a:r>
              <a:rPr lang="en-US"/>
              <a:t>With SEs, we can also test the following null and alternative hypothesis:</a:t>
            </a:r>
          </a:p>
          <a:p>
            <a:pPr marL="0" indent="0">
              <a:buNone/>
            </a:pPr>
            <a:endParaRPr lang="en-US"/>
          </a:p>
        </p:txBody>
      </p:sp>
      <p:pic>
        <p:nvPicPr>
          <p:cNvPr id="4" name="Picture 3">
            <a:extLst>
              <a:ext uri="{FF2B5EF4-FFF2-40B4-BE49-F238E27FC236}">
                <a16:creationId xmlns:a16="http://schemas.microsoft.com/office/drawing/2014/main" id="{07895121-94FB-B562-E715-BDE7920EF68A}"/>
              </a:ext>
            </a:extLst>
          </p:cNvPr>
          <p:cNvPicPr>
            <a:picLocks noChangeAspect="1"/>
          </p:cNvPicPr>
          <p:nvPr/>
        </p:nvPicPr>
        <p:blipFill>
          <a:blip r:embed="rId2"/>
          <a:stretch>
            <a:fillRect/>
          </a:stretch>
        </p:blipFill>
        <p:spPr>
          <a:xfrm>
            <a:off x="947737" y="3105150"/>
            <a:ext cx="6438900" cy="647700"/>
          </a:xfrm>
          <a:prstGeom prst="rect">
            <a:avLst/>
          </a:prstGeom>
        </p:spPr>
      </p:pic>
      <p:pic>
        <p:nvPicPr>
          <p:cNvPr id="5" name="Picture 4">
            <a:extLst>
              <a:ext uri="{FF2B5EF4-FFF2-40B4-BE49-F238E27FC236}">
                <a16:creationId xmlns:a16="http://schemas.microsoft.com/office/drawing/2014/main" id="{62B3CBE5-3F89-C498-2159-6FAA1C802BF1}"/>
              </a:ext>
            </a:extLst>
          </p:cNvPr>
          <p:cNvPicPr>
            <a:picLocks noChangeAspect="1"/>
          </p:cNvPicPr>
          <p:nvPr/>
        </p:nvPicPr>
        <p:blipFill>
          <a:blip r:embed="rId3"/>
          <a:stretch>
            <a:fillRect/>
          </a:stretch>
        </p:blipFill>
        <p:spPr>
          <a:xfrm>
            <a:off x="674687" y="4191000"/>
            <a:ext cx="6985000" cy="647700"/>
          </a:xfrm>
          <a:prstGeom prst="rect">
            <a:avLst/>
          </a:prstGeom>
        </p:spPr>
      </p:pic>
      <p:pic>
        <p:nvPicPr>
          <p:cNvPr id="6" name="Picture 5">
            <a:extLst>
              <a:ext uri="{FF2B5EF4-FFF2-40B4-BE49-F238E27FC236}">
                <a16:creationId xmlns:a16="http://schemas.microsoft.com/office/drawing/2014/main" id="{8331C223-3084-CE85-B19C-D2E936E0ECF2}"/>
              </a:ext>
            </a:extLst>
          </p:cNvPr>
          <p:cNvPicPr>
            <a:picLocks noChangeAspect="1"/>
          </p:cNvPicPr>
          <p:nvPr/>
        </p:nvPicPr>
        <p:blipFill>
          <a:blip r:embed="rId4"/>
          <a:stretch>
            <a:fillRect/>
          </a:stretch>
        </p:blipFill>
        <p:spPr>
          <a:xfrm>
            <a:off x="8736013" y="3105150"/>
            <a:ext cx="1892300" cy="647700"/>
          </a:xfrm>
          <a:prstGeom prst="rect">
            <a:avLst/>
          </a:prstGeom>
        </p:spPr>
      </p:pic>
      <p:pic>
        <p:nvPicPr>
          <p:cNvPr id="7" name="Picture 6">
            <a:extLst>
              <a:ext uri="{FF2B5EF4-FFF2-40B4-BE49-F238E27FC236}">
                <a16:creationId xmlns:a16="http://schemas.microsoft.com/office/drawing/2014/main" id="{47B31A2D-A91A-3E9E-06AB-7E01379862D8}"/>
              </a:ext>
            </a:extLst>
          </p:cNvPr>
          <p:cNvPicPr>
            <a:picLocks noChangeAspect="1"/>
          </p:cNvPicPr>
          <p:nvPr/>
        </p:nvPicPr>
        <p:blipFill>
          <a:blip r:embed="rId5"/>
          <a:stretch>
            <a:fillRect/>
          </a:stretch>
        </p:blipFill>
        <p:spPr>
          <a:xfrm>
            <a:off x="8560593" y="4291012"/>
            <a:ext cx="1892300" cy="647700"/>
          </a:xfrm>
          <a:prstGeom prst="rect">
            <a:avLst/>
          </a:prstGeom>
        </p:spPr>
      </p:pic>
      <p:pic>
        <p:nvPicPr>
          <p:cNvPr id="8" name="Picture 7">
            <a:extLst>
              <a:ext uri="{FF2B5EF4-FFF2-40B4-BE49-F238E27FC236}">
                <a16:creationId xmlns:a16="http://schemas.microsoft.com/office/drawing/2014/main" id="{4B6DD124-3DBA-5BD4-EFD6-C7D901086D4D}"/>
              </a:ext>
            </a:extLst>
          </p:cNvPr>
          <p:cNvPicPr>
            <a:picLocks noChangeAspect="1"/>
          </p:cNvPicPr>
          <p:nvPr/>
        </p:nvPicPr>
        <p:blipFill>
          <a:blip r:embed="rId6"/>
          <a:stretch>
            <a:fillRect/>
          </a:stretch>
        </p:blipFill>
        <p:spPr>
          <a:xfrm>
            <a:off x="5022850" y="5794375"/>
            <a:ext cx="2755900" cy="647700"/>
          </a:xfrm>
          <a:prstGeom prst="rect">
            <a:avLst/>
          </a:prstGeom>
        </p:spPr>
      </p:pic>
    </p:spTree>
    <p:extLst>
      <p:ext uri="{BB962C8B-B14F-4D97-AF65-F5344CB8AC3E}">
        <p14:creationId xmlns:p14="http://schemas.microsoft.com/office/powerpoint/2010/main" val="1780793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19718-836F-8FD6-896A-DC199F3FF549}"/>
              </a:ext>
            </a:extLst>
          </p:cNvPr>
          <p:cNvSpPr>
            <a:spLocks noGrp="1"/>
          </p:cNvSpPr>
          <p:nvPr>
            <p:ph type="title"/>
          </p:nvPr>
        </p:nvSpPr>
        <p:spPr/>
        <p:txBody>
          <a:bodyPr/>
          <a:lstStyle/>
          <a:p>
            <a:r>
              <a:rPr lang="en-US"/>
              <a:t>Hypothesis testing</a:t>
            </a:r>
          </a:p>
        </p:txBody>
      </p:sp>
      <p:sp>
        <p:nvSpPr>
          <p:cNvPr id="3" name="Content Placeholder 2">
            <a:extLst>
              <a:ext uri="{FF2B5EF4-FFF2-40B4-BE49-F238E27FC236}">
                <a16:creationId xmlns:a16="http://schemas.microsoft.com/office/drawing/2014/main" id="{F40B58C8-397A-4C1D-0511-D77B54093A08}"/>
              </a:ext>
            </a:extLst>
          </p:cNvPr>
          <p:cNvSpPr>
            <a:spLocks noGrp="1"/>
          </p:cNvSpPr>
          <p:nvPr>
            <p:ph idx="1"/>
          </p:nvPr>
        </p:nvSpPr>
        <p:spPr>
          <a:xfrm>
            <a:off x="838199" y="1825625"/>
            <a:ext cx="10953307" cy="4351338"/>
          </a:xfrm>
        </p:spPr>
        <p:txBody>
          <a:bodyPr/>
          <a:lstStyle/>
          <a:p>
            <a:pPr marL="0" indent="0">
              <a:buNone/>
            </a:pPr>
            <a:r>
              <a:rPr lang="en-US" dirty="0"/>
              <a:t>We compute the t-statistic:</a:t>
            </a:r>
          </a:p>
          <a:p>
            <a:pPr marL="0" indent="0">
              <a:buNone/>
            </a:pPr>
            <a:endParaRPr lang="en-US" dirty="0"/>
          </a:p>
          <a:p>
            <a:pPr marL="0" indent="0">
              <a:buNone/>
            </a:pPr>
            <a:endParaRPr lang="en-US" dirty="0"/>
          </a:p>
          <a:p>
            <a:pPr marL="0" indent="0">
              <a:buNone/>
            </a:pPr>
            <a:r>
              <a:rPr lang="en-US" dirty="0"/>
              <a:t>It measures the number of standard deviations that </a:t>
            </a:r>
            <a:r>
              <a:rPr lang="en-US" i="1" dirty="0">
                <a:latin typeface="Courier New" panose="02070309020205020404" pitchFamily="49" charset="0"/>
                <a:cs typeface="Courier New" panose="02070309020205020404" pitchFamily="49" charset="0"/>
              </a:rPr>
              <a:t>β</a:t>
            </a:r>
            <a:r>
              <a:rPr lang="en-US" i="1" baseline="-25000" dirty="0">
                <a:latin typeface="Courier New" panose="02070309020205020404" pitchFamily="49" charset="0"/>
                <a:cs typeface="Courier New" panose="02070309020205020404" pitchFamily="49" charset="0"/>
              </a:rPr>
              <a:t>1</a:t>
            </a:r>
            <a:r>
              <a:rPr lang="en-US" dirty="0"/>
              <a:t> is away from 0</a:t>
            </a:r>
          </a:p>
          <a:p>
            <a:pPr marL="0" indent="0">
              <a:buNone/>
            </a:pPr>
            <a:endParaRPr lang="en-US" dirty="0"/>
          </a:p>
          <a:p>
            <a:pPr marL="0" indent="0">
              <a:buNone/>
            </a:pPr>
            <a:r>
              <a:rPr lang="en-US" dirty="0"/>
              <a:t>If there is no relations between X and Y, we expect a t-distribution with n-2 degrees of freedom</a:t>
            </a:r>
          </a:p>
        </p:txBody>
      </p:sp>
      <p:pic>
        <p:nvPicPr>
          <p:cNvPr id="9" name="Picture 8">
            <a:extLst>
              <a:ext uri="{FF2B5EF4-FFF2-40B4-BE49-F238E27FC236}">
                <a16:creationId xmlns:a16="http://schemas.microsoft.com/office/drawing/2014/main" id="{BFC0BE97-CBB4-3003-DE0F-B66D4D3F24CB}"/>
              </a:ext>
            </a:extLst>
          </p:cNvPr>
          <p:cNvPicPr>
            <a:picLocks noChangeAspect="1"/>
          </p:cNvPicPr>
          <p:nvPr/>
        </p:nvPicPr>
        <p:blipFill>
          <a:blip r:embed="rId2"/>
          <a:stretch>
            <a:fillRect/>
          </a:stretch>
        </p:blipFill>
        <p:spPr>
          <a:xfrm>
            <a:off x="5822281" y="1554079"/>
            <a:ext cx="1638300" cy="990600"/>
          </a:xfrm>
          <a:prstGeom prst="rect">
            <a:avLst/>
          </a:prstGeom>
        </p:spPr>
      </p:pic>
    </p:spTree>
    <p:extLst>
      <p:ext uri="{BB962C8B-B14F-4D97-AF65-F5344CB8AC3E}">
        <p14:creationId xmlns:p14="http://schemas.microsoft.com/office/powerpoint/2010/main" val="3265986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7994C-9673-6215-1EA0-D5F65739E2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D123AC-F5B2-66CD-77CE-097985F70A9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781C1F4-81EC-1FFC-9DE0-97403F24B3BE}"/>
              </a:ext>
            </a:extLst>
          </p:cNvPr>
          <p:cNvPicPr>
            <a:picLocks noChangeAspect="1"/>
          </p:cNvPicPr>
          <p:nvPr/>
        </p:nvPicPr>
        <p:blipFill>
          <a:blip r:embed="rId3"/>
          <a:stretch>
            <a:fillRect/>
          </a:stretch>
        </p:blipFill>
        <p:spPr>
          <a:xfrm>
            <a:off x="3500115" y="98523"/>
            <a:ext cx="4836577" cy="3184330"/>
          </a:xfrm>
          <a:prstGeom prst="rect">
            <a:avLst/>
          </a:prstGeom>
        </p:spPr>
      </p:pic>
      <p:pic>
        <p:nvPicPr>
          <p:cNvPr id="5" name="Picture 4">
            <a:extLst>
              <a:ext uri="{FF2B5EF4-FFF2-40B4-BE49-F238E27FC236}">
                <a16:creationId xmlns:a16="http://schemas.microsoft.com/office/drawing/2014/main" id="{09EF21A4-079A-5C9D-72A7-2CDA9D5CF3AE}"/>
              </a:ext>
            </a:extLst>
          </p:cNvPr>
          <p:cNvPicPr>
            <a:picLocks noChangeAspect="1"/>
          </p:cNvPicPr>
          <p:nvPr/>
        </p:nvPicPr>
        <p:blipFill>
          <a:blip r:embed="rId4"/>
          <a:stretch>
            <a:fillRect/>
          </a:stretch>
        </p:blipFill>
        <p:spPr>
          <a:xfrm>
            <a:off x="1872916" y="4342802"/>
            <a:ext cx="7772400" cy="1252480"/>
          </a:xfrm>
          <a:prstGeom prst="rect">
            <a:avLst/>
          </a:prstGeom>
        </p:spPr>
      </p:pic>
    </p:spTree>
    <p:extLst>
      <p:ext uri="{BB962C8B-B14F-4D97-AF65-F5344CB8AC3E}">
        <p14:creationId xmlns:p14="http://schemas.microsoft.com/office/powerpoint/2010/main" val="1934286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1CF3C-9F20-47C8-3397-645F4DB82A67}"/>
              </a:ext>
            </a:extLst>
          </p:cNvPr>
          <p:cNvSpPr>
            <a:spLocks noGrp="1"/>
          </p:cNvSpPr>
          <p:nvPr>
            <p:ph type="title"/>
          </p:nvPr>
        </p:nvSpPr>
        <p:spPr/>
        <p:txBody>
          <a:bodyPr/>
          <a:lstStyle/>
          <a:p>
            <a:r>
              <a:rPr lang="en-US"/>
              <a:t>How accurate is the model?</a:t>
            </a:r>
          </a:p>
        </p:txBody>
      </p:sp>
      <p:sp>
        <p:nvSpPr>
          <p:cNvPr id="3" name="Content Placeholder 2">
            <a:extLst>
              <a:ext uri="{FF2B5EF4-FFF2-40B4-BE49-F238E27FC236}">
                <a16:creationId xmlns:a16="http://schemas.microsoft.com/office/drawing/2014/main" id="{706DB455-3543-BF1F-C369-8120E6B2798E}"/>
              </a:ext>
            </a:extLst>
          </p:cNvPr>
          <p:cNvSpPr>
            <a:spLocks noGrp="1"/>
          </p:cNvSpPr>
          <p:nvPr>
            <p:ph idx="1"/>
          </p:nvPr>
        </p:nvSpPr>
        <p:spPr/>
        <p:txBody>
          <a:bodyPr/>
          <a:lstStyle/>
          <a:p>
            <a:pPr marL="0" indent="0">
              <a:buNone/>
            </a:pPr>
            <a:r>
              <a:rPr lang="en-US" dirty="0"/>
              <a:t>Residual Standard Error (RSE)</a:t>
            </a:r>
            <a:br>
              <a:rPr lang="en-US" dirty="0"/>
            </a:br>
            <a:br>
              <a:rPr lang="en-US" dirty="0"/>
            </a:br>
            <a:r>
              <a:rPr lang="en-US" dirty="0"/>
              <a:t>R</a:t>
            </a:r>
            <a:r>
              <a:rPr lang="en-US" baseline="30000" dirty="0"/>
              <a:t>2</a:t>
            </a:r>
            <a:r>
              <a:rPr lang="en-US" dirty="0"/>
              <a:t> statistic</a:t>
            </a:r>
          </a:p>
        </p:txBody>
      </p:sp>
    </p:spTree>
    <p:extLst>
      <p:ext uri="{BB962C8B-B14F-4D97-AF65-F5344CB8AC3E}">
        <p14:creationId xmlns:p14="http://schemas.microsoft.com/office/powerpoint/2010/main" val="4047173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35489-3925-6BDA-7AB5-8AACF5B97C69}"/>
              </a:ext>
            </a:extLst>
          </p:cNvPr>
          <p:cNvSpPr>
            <a:spLocks noGrp="1"/>
          </p:cNvSpPr>
          <p:nvPr>
            <p:ph type="title"/>
          </p:nvPr>
        </p:nvSpPr>
        <p:spPr/>
        <p:txBody>
          <a:bodyPr/>
          <a:lstStyle/>
          <a:p>
            <a:r>
              <a:rPr lang="en-US"/>
              <a:t>Residual Standard Error</a:t>
            </a:r>
          </a:p>
        </p:txBody>
      </p:sp>
      <p:sp>
        <p:nvSpPr>
          <p:cNvPr id="3" name="Content Placeholder 2">
            <a:extLst>
              <a:ext uri="{FF2B5EF4-FFF2-40B4-BE49-F238E27FC236}">
                <a16:creationId xmlns:a16="http://schemas.microsoft.com/office/drawing/2014/main" id="{EACE7700-9116-2F6C-873E-0B4FE6B2092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A014D72-9059-9527-68F6-841E33969C30}"/>
              </a:ext>
            </a:extLst>
          </p:cNvPr>
          <p:cNvPicPr>
            <a:picLocks noChangeAspect="1"/>
          </p:cNvPicPr>
          <p:nvPr/>
        </p:nvPicPr>
        <p:blipFill>
          <a:blip r:embed="rId2"/>
          <a:stretch>
            <a:fillRect/>
          </a:stretch>
        </p:blipFill>
        <p:spPr>
          <a:xfrm>
            <a:off x="417512" y="6276975"/>
            <a:ext cx="6756400" cy="431800"/>
          </a:xfrm>
          <a:prstGeom prst="rect">
            <a:avLst/>
          </a:prstGeom>
        </p:spPr>
      </p:pic>
      <p:pic>
        <p:nvPicPr>
          <p:cNvPr id="5" name="Picture 4">
            <a:extLst>
              <a:ext uri="{FF2B5EF4-FFF2-40B4-BE49-F238E27FC236}">
                <a16:creationId xmlns:a16="http://schemas.microsoft.com/office/drawing/2014/main" id="{39F826C1-E724-CC27-8287-1A0EBCEB2DE6}"/>
              </a:ext>
            </a:extLst>
          </p:cNvPr>
          <p:cNvPicPr>
            <a:picLocks noChangeAspect="1"/>
          </p:cNvPicPr>
          <p:nvPr/>
        </p:nvPicPr>
        <p:blipFill>
          <a:blip r:embed="rId3"/>
          <a:stretch>
            <a:fillRect/>
          </a:stretch>
        </p:blipFill>
        <p:spPr>
          <a:xfrm>
            <a:off x="8459305" y="4411883"/>
            <a:ext cx="3659670" cy="2409472"/>
          </a:xfrm>
          <a:prstGeom prst="rect">
            <a:avLst/>
          </a:prstGeom>
        </p:spPr>
      </p:pic>
      <p:pic>
        <p:nvPicPr>
          <p:cNvPr id="6" name="Picture 5">
            <a:extLst>
              <a:ext uri="{FF2B5EF4-FFF2-40B4-BE49-F238E27FC236}">
                <a16:creationId xmlns:a16="http://schemas.microsoft.com/office/drawing/2014/main" id="{E7F2A90E-3F99-64A3-1A9F-E5B068AF711F}"/>
              </a:ext>
            </a:extLst>
          </p:cNvPr>
          <p:cNvPicPr>
            <a:picLocks noChangeAspect="1"/>
          </p:cNvPicPr>
          <p:nvPr/>
        </p:nvPicPr>
        <p:blipFill>
          <a:blip r:embed="rId4"/>
          <a:stretch>
            <a:fillRect/>
          </a:stretch>
        </p:blipFill>
        <p:spPr>
          <a:xfrm>
            <a:off x="4204034" y="2040732"/>
            <a:ext cx="6286500" cy="1295400"/>
          </a:xfrm>
          <a:prstGeom prst="rect">
            <a:avLst/>
          </a:prstGeom>
        </p:spPr>
      </p:pic>
    </p:spTree>
    <p:extLst>
      <p:ext uri="{BB962C8B-B14F-4D97-AF65-F5344CB8AC3E}">
        <p14:creationId xmlns:p14="http://schemas.microsoft.com/office/powerpoint/2010/main" val="1861286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2E116-144A-6AC9-A057-01A8DDA0345D}"/>
              </a:ext>
            </a:extLst>
          </p:cNvPr>
          <p:cNvSpPr>
            <a:spLocks noGrp="1"/>
          </p:cNvSpPr>
          <p:nvPr>
            <p:ph type="title"/>
          </p:nvPr>
        </p:nvSpPr>
        <p:spPr/>
        <p:txBody>
          <a:bodyPr/>
          <a:lstStyle/>
          <a:p>
            <a:r>
              <a:rPr lang="en-US"/>
              <a:t>How to interpret the RSE?</a:t>
            </a:r>
          </a:p>
        </p:txBody>
      </p:sp>
      <p:sp>
        <p:nvSpPr>
          <p:cNvPr id="3" name="Content Placeholder 2">
            <a:extLst>
              <a:ext uri="{FF2B5EF4-FFF2-40B4-BE49-F238E27FC236}">
                <a16:creationId xmlns:a16="http://schemas.microsoft.com/office/drawing/2014/main" id="{3C4962E5-1D37-C710-C7C7-DAE22F991662}"/>
              </a:ext>
            </a:extLst>
          </p:cNvPr>
          <p:cNvSpPr>
            <a:spLocks noGrp="1"/>
          </p:cNvSpPr>
          <p:nvPr>
            <p:ph idx="1"/>
          </p:nvPr>
        </p:nvSpPr>
        <p:spPr>
          <a:xfrm>
            <a:off x="838200" y="3767489"/>
            <a:ext cx="10515600" cy="2409473"/>
          </a:xfrm>
        </p:spPr>
        <p:txBody>
          <a:bodyPr>
            <a:normAutofit fontScale="85000" lnSpcReduction="20000"/>
          </a:bodyPr>
          <a:lstStyle/>
          <a:p>
            <a:r>
              <a:rPr lang="en-US" dirty="0"/>
              <a:t>Actual sales deviate from the true regression line by approximately 3260 units on average</a:t>
            </a:r>
          </a:p>
          <a:p>
            <a:r>
              <a:rPr lang="en-US" dirty="0"/>
              <a:t>Even if we estimated the true values of the coefficients correctly, any prediction made using the model will be still be wrong by 3260 units on average</a:t>
            </a:r>
          </a:p>
          <a:p>
            <a:r>
              <a:rPr lang="en-US" dirty="0"/>
              <a:t>Is this error acceptable?</a:t>
            </a:r>
          </a:p>
          <a:p>
            <a:pPr lvl="1"/>
            <a:r>
              <a:rPr lang="en-US" dirty="0"/>
              <a:t>Mean value of sales is ~14000 units per market, so the average error is 3260/14000 = 23% </a:t>
            </a:r>
          </a:p>
        </p:txBody>
      </p:sp>
      <p:pic>
        <p:nvPicPr>
          <p:cNvPr id="4" name="Picture 3">
            <a:extLst>
              <a:ext uri="{FF2B5EF4-FFF2-40B4-BE49-F238E27FC236}">
                <a16:creationId xmlns:a16="http://schemas.microsoft.com/office/drawing/2014/main" id="{B3950BA8-3599-C8C8-8EDF-94CE69E9081A}"/>
              </a:ext>
            </a:extLst>
          </p:cNvPr>
          <p:cNvPicPr>
            <a:picLocks noChangeAspect="1"/>
          </p:cNvPicPr>
          <p:nvPr/>
        </p:nvPicPr>
        <p:blipFill>
          <a:blip r:embed="rId2"/>
          <a:stretch>
            <a:fillRect/>
          </a:stretch>
        </p:blipFill>
        <p:spPr>
          <a:xfrm>
            <a:off x="2098392" y="1570789"/>
            <a:ext cx="4940300" cy="1727200"/>
          </a:xfrm>
          <a:prstGeom prst="rect">
            <a:avLst/>
          </a:prstGeom>
        </p:spPr>
      </p:pic>
      <p:pic>
        <p:nvPicPr>
          <p:cNvPr id="5" name="Picture 4">
            <a:extLst>
              <a:ext uri="{FF2B5EF4-FFF2-40B4-BE49-F238E27FC236}">
                <a16:creationId xmlns:a16="http://schemas.microsoft.com/office/drawing/2014/main" id="{BC49D2AC-DDDF-5C78-E2A8-EDE8A02C13BC}"/>
              </a:ext>
            </a:extLst>
          </p:cNvPr>
          <p:cNvPicPr>
            <a:picLocks noChangeAspect="1"/>
          </p:cNvPicPr>
          <p:nvPr/>
        </p:nvPicPr>
        <p:blipFill>
          <a:blip r:embed="rId3"/>
          <a:stretch>
            <a:fillRect/>
          </a:stretch>
        </p:blipFill>
        <p:spPr>
          <a:xfrm>
            <a:off x="8114639" y="955452"/>
            <a:ext cx="3659670" cy="2409472"/>
          </a:xfrm>
          <a:prstGeom prst="rect">
            <a:avLst/>
          </a:prstGeom>
        </p:spPr>
      </p:pic>
    </p:spTree>
    <p:extLst>
      <p:ext uri="{BB962C8B-B14F-4D97-AF65-F5344CB8AC3E}">
        <p14:creationId xmlns:p14="http://schemas.microsoft.com/office/powerpoint/2010/main" val="3859521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EC52-FBE3-5E2B-A1AB-BCDBB9148CD1}"/>
              </a:ext>
            </a:extLst>
          </p:cNvPr>
          <p:cNvSpPr>
            <a:spLocks noGrp="1"/>
          </p:cNvSpPr>
          <p:nvPr>
            <p:ph type="title"/>
          </p:nvPr>
        </p:nvSpPr>
        <p:spPr/>
        <p:txBody>
          <a:bodyPr/>
          <a:lstStyle/>
          <a:p>
            <a:r>
              <a:rPr lang="en-US"/>
              <a:t>Problems with RSE</a:t>
            </a:r>
          </a:p>
        </p:txBody>
      </p:sp>
      <p:sp>
        <p:nvSpPr>
          <p:cNvPr id="3" name="Content Placeholder 2">
            <a:extLst>
              <a:ext uri="{FF2B5EF4-FFF2-40B4-BE49-F238E27FC236}">
                <a16:creationId xmlns:a16="http://schemas.microsoft.com/office/drawing/2014/main" id="{10552002-1A23-7292-FDC1-C1192AD3D264}"/>
              </a:ext>
            </a:extLst>
          </p:cNvPr>
          <p:cNvSpPr>
            <a:spLocks noGrp="1"/>
          </p:cNvSpPr>
          <p:nvPr>
            <p:ph idx="1"/>
          </p:nvPr>
        </p:nvSpPr>
        <p:spPr/>
        <p:txBody>
          <a:bodyPr/>
          <a:lstStyle/>
          <a:p>
            <a:pPr marL="0" indent="0">
              <a:buNone/>
            </a:pPr>
            <a:r>
              <a:rPr lang="en-US" dirty="0"/>
              <a:t>RSE measure the “lack of fit of the model”, but…</a:t>
            </a:r>
          </a:p>
          <a:p>
            <a:pPr marL="0" indent="0">
              <a:buNone/>
            </a:pPr>
            <a:r>
              <a:rPr lang="en-US" dirty="0"/>
              <a:t>… it is measured in the units of Y, so…</a:t>
            </a:r>
          </a:p>
          <a:p>
            <a:pPr marL="0" indent="0">
              <a:buNone/>
            </a:pPr>
            <a:r>
              <a:rPr lang="en-US" dirty="0"/>
              <a:t>…it is not always clear what constitutes an acceptable RSE</a:t>
            </a:r>
          </a:p>
          <a:p>
            <a:endParaRPr lang="en-US" dirty="0"/>
          </a:p>
          <a:p>
            <a:pPr marL="0" indent="0">
              <a:buNone/>
            </a:pPr>
            <a:r>
              <a:rPr lang="en-US" dirty="0"/>
              <a:t>We would like a proper “statistic” measured on a standard scale (for example, between 0 and 1) </a:t>
            </a:r>
          </a:p>
        </p:txBody>
      </p:sp>
    </p:spTree>
    <p:extLst>
      <p:ext uri="{BB962C8B-B14F-4D97-AF65-F5344CB8AC3E}">
        <p14:creationId xmlns:p14="http://schemas.microsoft.com/office/powerpoint/2010/main" val="2183556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9F019-3A13-239E-7024-16FE6A1CE527}"/>
              </a:ext>
            </a:extLst>
          </p:cNvPr>
          <p:cNvSpPr>
            <a:spLocks noGrp="1"/>
          </p:cNvSpPr>
          <p:nvPr>
            <p:ph type="title"/>
          </p:nvPr>
        </p:nvSpPr>
        <p:spPr/>
        <p:txBody>
          <a:bodyPr/>
          <a:lstStyle/>
          <a:p>
            <a:r>
              <a:rPr lang="en-US" dirty="0"/>
              <a:t>The R</a:t>
            </a:r>
            <a:r>
              <a:rPr lang="en-US" baseline="30000" dirty="0"/>
              <a:t>2</a:t>
            </a:r>
            <a:r>
              <a:rPr lang="en-US" dirty="0"/>
              <a:t> statistic</a:t>
            </a:r>
          </a:p>
        </p:txBody>
      </p:sp>
      <p:sp>
        <p:nvSpPr>
          <p:cNvPr id="3" name="Content Placeholder 2">
            <a:extLst>
              <a:ext uri="{FF2B5EF4-FFF2-40B4-BE49-F238E27FC236}">
                <a16:creationId xmlns:a16="http://schemas.microsoft.com/office/drawing/2014/main" id="{1F13F9A0-AC72-EA84-8BEC-779FD64F255A}"/>
              </a:ext>
            </a:extLst>
          </p:cNvPr>
          <p:cNvSpPr>
            <a:spLocks noGrp="1"/>
          </p:cNvSpPr>
          <p:nvPr>
            <p:ph idx="1"/>
          </p:nvPr>
        </p:nvSpPr>
        <p:spPr>
          <a:xfrm>
            <a:off x="838200" y="3712745"/>
            <a:ext cx="10515600" cy="2464218"/>
          </a:xfrm>
        </p:spPr>
        <p:txBody>
          <a:bodyPr/>
          <a:lstStyle/>
          <a:p>
            <a:r>
              <a:rPr lang="en-US"/>
              <a:t>Where TSS is the total sum of squares</a:t>
            </a:r>
          </a:p>
        </p:txBody>
      </p:sp>
      <p:pic>
        <p:nvPicPr>
          <p:cNvPr id="4" name="Picture 3">
            <a:extLst>
              <a:ext uri="{FF2B5EF4-FFF2-40B4-BE49-F238E27FC236}">
                <a16:creationId xmlns:a16="http://schemas.microsoft.com/office/drawing/2014/main" id="{E7CA55CD-1FF7-CF37-FF80-78DF8D000C19}"/>
              </a:ext>
            </a:extLst>
          </p:cNvPr>
          <p:cNvPicPr>
            <a:picLocks noChangeAspect="1"/>
          </p:cNvPicPr>
          <p:nvPr/>
        </p:nvPicPr>
        <p:blipFill>
          <a:blip r:embed="rId2"/>
          <a:stretch>
            <a:fillRect/>
          </a:stretch>
        </p:blipFill>
        <p:spPr>
          <a:xfrm>
            <a:off x="2536992" y="2268956"/>
            <a:ext cx="4102100" cy="876300"/>
          </a:xfrm>
          <a:prstGeom prst="rect">
            <a:avLst/>
          </a:prstGeom>
        </p:spPr>
      </p:pic>
      <p:pic>
        <p:nvPicPr>
          <p:cNvPr id="5" name="Picture 4">
            <a:extLst>
              <a:ext uri="{FF2B5EF4-FFF2-40B4-BE49-F238E27FC236}">
                <a16:creationId xmlns:a16="http://schemas.microsoft.com/office/drawing/2014/main" id="{CB60B39B-9568-8CEF-F222-3EC8D1A6C556}"/>
              </a:ext>
            </a:extLst>
          </p:cNvPr>
          <p:cNvPicPr>
            <a:picLocks noChangeAspect="1"/>
          </p:cNvPicPr>
          <p:nvPr/>
        </p:nvPicPr>
        <p:blipFill>
          <a:blip r:embed="rId3"/>
          <a:stretch>
            <a:fillRect/>
          </a:stretch>
        </p:blipFill>
        <p:spPr>
          <a:xfrm>
            <a:off x="3454400" y="4445209"/>
            <a:ext cx="2641600" cy="431800"/>
          </a:xfrm>
          <a:prstGeom prst="rect">
            <a:avLst/>
          </a:prstGeom>
        </p:spPr>
      </p:pic>
      <p:pic>
        <p:nvPicPr>
          <p:cNvPr id="6" name="Picture 5">
            <a:extLst>
              <a:ext uri="{FF2B5EF4-FFF2-40B4-BE49-F238E27FC236}">
                <a16:creationId xmlns:a16="http://schemas.microsoft.com/office/drawing/2014/main" id="{827161BB-F3BE-ABBB-1662-C1BF457A73BB}"/>
              </a:ext>
            </a:extLst>
          </p:cNvPr>
          <p:cNvPicPr>
            <a:picLocks noChangeAspect="1"/>
          </p:cNvPicPr>
          <p:nvPr/>
        </p:nvPicPr>
        <p:blipFill>
          <a:blip r:embed="rId4"/>
          <a:stretch>
            <a:fillRect/>
          </a:stretch>
        </p:blipFill>
        <p:spPr>
          <a:xfrm>
            <a:off x="7267449" y="2258177"/>
            <a:ext cx="4775118" cy="3143866"/>
          </a:xfrm>
          <a:prstGeom prst="rect">
            <a:avLst/>
          </a:prstGeom>
        </p:spPr>
      </p:pic>
      <p:pic>
        <p:nvPicPr>
          <p:cNvPr id="7" name="Picture 6">
            <a:extLst>
              <a:ext uri="{FF2B5EF4-FFF2-40B4-BE49-F238E27FC236}">
                <a16:creationId xmlns:a16="http://schemas.microsoft.com/office/drawing/2014/main" id="{B0470453-21ED-C3BB-6A9F-C026F537FA44}"/>
              </a:ext>
            </a:extLst>
          </p:cNvPr>
          <p:cNvPicPr>
            <a:picLocks noChangeAspect="1"/>
          </p:cNvPicPr>
          <p:nvPr/>
        </p:nvPicPr>
        <p:blipFill>
          <a:blip r:embed="rId5"/>
          <a:stretch>
            <a:fillRect/>
          </a:stretch>
        </p:blipFill>
        <p:spPr>
          <a:xfrm>
            <a:off x="417512" y="6276975"/>
            <a:ext cx="6756400" cy="431800"/>
          </a:xfrm>
          <a:prstGeom prst="rect">
            <a:avLst/>
          </a:prstGeom>
        </p:spPr>
      </p:pic>
    </p:spTree>
    <p:extLst>
      <p:ext uri="{BB962C8B-B14F-4D97-AF65-F5344CB8AC3E}">
        <p14:creationId xmlns:p14="http://schemas.microsoft.com/office/powerpoint/2010/main" val="3657980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B3ACA-E268-48A7-3250-AFF13F54D856}"/>
              </a:ext>
            </a:extLst>
          </p:cNvPr>
          <p:cNvSpPr>
            <a:spLocks noGrp="1"/>
          </p:cNvSpPr>
          <p:nvPr>
            <p:ph type="title"/>
          </p:nvPr>
        </p:nvSpPr>
        <p:spPr/>
        <p:txBody>
          <a:bodyPr/>
          <a:lstStyle/>
          <a:p>
            <a:r>
              <a:rPr lang="en-US" dirty="0"/>
              <a:t>Interpreting R</a:t>
            </a:r>
            <a:r>
              <a:rPr lang="en-US" baseline="30000" dirty="0"/>
              <a:t>2</a:t>
            </a:r>
          </a:p>
        </p:txBody>
      </p:sp>
      <p:sp>
        <p:nvSpPr>
          <p:cNvPr id="3" name="Content Placeholder 2">
            <a:extLst>
              <a:ext uri="{FF2B5EF4-FFF2-40B4-BE49-F238E27FC236}">
                <a16:creationId xmlns:a16="http://schemas.microsoft.com/office/drawing/2014/main" id="{3800410E-5487-19DE-DACB-87712B4F1F60}"/>
              </a:ext>
            </a:extLst>
          </p:cNvPr>
          <p:cNvSpPr>
            <a:spLocks noGrp="1"/>
          </p:cNvSpPr>
          <p:nvPr>
            <p:ph idx="1"/>
          </p:nvPr>
        </p:nvSpPr>
        <p:spPr/>
        <p:txBody>
          <a:bodyPr/>
          <a:lstStyle/>
          <a:p>
            <a:pPr marL="0" indent="0">
              <a:buNone/>
            </a:pPr>
            <a:r>
              <a:rPr lang="en-US" dirty="0"/>
              <a:t>TSS measures the total variance of the response Y in the population</a:t>
            </a:r>
          </a:p>
          <a:p>
            <a:pPr marL="0" indent="0">
              <a:buNone/>
            </a:pPr>
            <a:endParaRPr lang="en-US" dirty="0"/>
          </a:p>
          <a:p>
            <a:pPr marL="0" indent="0">
              <a:buNone/>
            </a:pPr>
            <a:r>
              <a:rPr lang="en-US" dirty="0"/>
              <a:t>RSS measures the amount of variability of the model error</a:t>
            </a:r>
          </a:p>
          <a:p>
            <a:pPr marL="457200" lvl="1" indent="0">
              <a:buNone/>
            </a:pPr>
            <a:r>
              <a:rPr lang="en-US" dirty="0"/>
              <a:t>That is, the variability that the model cannot explain</a:t>
            </a:r>
          </a:p>
          <a:p>
            <a:pPr marL="0" indent="0">
              <a:buNone/>
            </a:pPr>
            <a:endParaRPr lang="en-US" dirty="0"/>
          </a:p>
          <a:p>
            <a:pPr marL="0" indent="0">
              <a:buNone/>
            </a:pPr>
            <a:r>
              <a:rPr lang="en-US" dirty="0"/>
              <a:t>R</a:t>
            </a:r>
            <a:r>
              <a:rPr lang="en-US" baseline="30000" dirty="0"/>
              <a:t>2</a:t>
            </a:r>
            <a:r>
              <a:rPr lang="en-US" dirty="0"/>
              <a:t> measures the proportion of variability of Y that can be explained using X</a:t>
            </a:r>
          </a:p>
        </p:txBody>
      </p:sp>
    </p:spTree>
    <p:extLst>
      <p:ext uri="{BB962C8B-B14F-4D97-AF65-F5344CB8AC3E}">
        <p14:creationId xmlns:p14="http://schemas.microsoft.com/office/powerpoint/2010/main" val="1199440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2E116-144A-6AC9-A057-01A8DDA0345D}"/>
              </a:ext>
            </a:extLst>
          </p:cNvPr>
          <p:cNvSpPr>
            <a:spLocks noGrp="1"/>
          </p:cNvSpPr>
          <p:nvPr>
            <p:ph type="title"/>
          </p:nvPr>
        </p:nvSpPr>
        <p:spPr/>
        <p:txBody>
          <a:bodyPr/>
          <a:lstStyle/>
          <a:p>
            <a:r>
              <a:rPr lang="en-US" dirty="0"/>
              <a:t>Interpreting R</a:t>
            </a:r>
            <a:r>
              <a:rPr lang="en-US" baseline="30000" dirty="0"/>
              <a:t>2</a:t>
            </a:r>
          </a:p>
        </p:txBody>
      </p:sp>
      <p:sp>
        <p:nvSpPr>
          <p:cNvPr id="3" name="Content Placeholder 2">
            <a:extLst>
              <a:ext uri="{FF2B5EF4-FFF2-40B4-BE49-F238E27FC236}">
                <a16:creationId xmlns:a16="http://schemas.microsoft.com/office/drawing/2014/main" id="{3C4962E5-1D37-C710-C7C7-DAE22F991662}"/>
              </a:ext>
            </a:extLst>
          </p:cNvPr>
          <p:cNvSpPr>
            <a:spLocks noGrp="1"/>
          </p:cNvSpPr>
          <p:nvPr>
            <p:ph idx="1"/>
          </p:nvPr>
        </p:nvSpPr>
        <p:spPr>
          <a:xfrm>
            <a:off x="838200" y="3767489"/>
            <a:ext cx="10515600" cy="2409473"/>
          </a:xfrm>
        </p:spPr>
        <p:txBody>
          <a:bodyPr>
            <a:normAutofit/>
          </a:bodyPr>
          <a:lstStyle/>
          <a:p>
            <a:r>
              <a:rPr lang="en-US"/>
              <a:t>About 61% of the variability of sales can be explained by the $$ spent on TV advertising</a:t>
            </a:r>
          </a:p>
        </p:txBody>
      </p:sp>
      <p:pic>
        <p:nvPicPr>
          <p:cNvPr id="4" name="Picture 3">
            <a:extLst>
              <a:ext uri="{FF2B5EF4-FFF2-40B4-BE49-F238E27FC236}">
                <a16:creationId xmlns:a16="http://schemas.microsoft.com/office/drawing/2014/main" id="{B3950BA8-3599-C8C8-8EDF-94CE69E9081A}"/>
              </a:ext>
            </a:extLst>
          </p:cNvPr>
          <p:cNvPicPr>
            <a:picLocks noChangeAspect="1"/>
          </p:cNvPicPr>
          <p:nvPr/>
        </p:nvPicPr>
        <p:blipFill>
          <a:blip r:embed="rId2"/>
          <a:stretch>
            <a:fillRect/>
          </a:stretch>
        </p:blipFill>
        <p:spPr>
          <a:xfrm>
            <a:off x="2098392" y="1570789"/>
            <a:ext cx="4940300" cy="1727200"/>
          </a:xfrm>
          <a:prstGeom prst="rect">
            <a:avLst/>
          </a:prstGeom>
        </p:spPr>
      </p:pic>
      <p:pic>
        <p:nvPicPr>
          <p:cNvPr id="5" name="Picture 4">
            <a:extLst>
              <a:ext uri="{FF2B5EF4-FFF2-40B4-BE49-F238E27FC236}">
                <a16:creationId xmlns:a16="http://schemas.microsoft.com/office/drawing/2014/main" id="{BC49D2AC-DDDF-5C78-E2A8-EDE8A02C13BC}"/>
              </a:ext>
            </a:extLst>
          </p:cNvPr>
          <p:cNvPicPr>
            <a:picLocks noChangeAspect="1"/>
          </p:cNvPicPr>
          <p:nvPr/>
        </p:nvPicPr>
        <p:blipFill>
          <a:blip r:embed="rId3"/>
          <a:stretch>
            <a:fillRect/>
          </a:stretch>
        </p:blipFill>
        <p:spPr>
          <a:xfrm>
            <a:off x="8298884" y="1428134"/>
            <a:ext cx="3659670" cy="2409472"/>
          </a:xfrm>
          <a:prstGeom prst="rect">
            <a:avLst/>
          </a:prstGeom>
        </p:spPr>
      </p:pic>
    </p:spTree>
    <p:extLst>
      <p:ext uri="{BB962C8B-B14F-4D97-AF65-F5344CB8AC3E}">
        <p14:creationId xmlns:p14="http://schemas.microsoft.com/office/powerpoint/2010/main" val="3156027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C5763-5CA1-592B-0C76-2BEF20910C0E}"/>
              </a:ext>
            </a:extLst>
          </p:cNvPr>
          <p:cNvSpPr>
            <a:spLocks noGrp="1"/>
          </p:cNvSpPr>
          <p:nvPr>
            <p:ph type="title"/>
          </p:nvPr>
        </p:nvSpPr>
        <p:spPr/>
        <p:txBody>
          <a:bodyPr/>
          <a:lstStyle/>
          <a:p>
            <a:r>
              <a:rPr lang="en-US" dirty="0"/>
              <a:t>What is a good value of R</a:t>
            </a:r>
            <a:r>
              <a:rPr lang="en-US" baseline="30000" dirty="0"/>
              <a:t>2</a:t>
            </a:r>
            <a:r>
              <a:rPr lang="en-US" dirty="0"/>
              <a:t>?</a:t>
            </a:r>
          </a:p>
        </p:txBody>
      </p:sp>
      <p:sp>
        <p:nvSpPr>
          <p:cNvPr id="3" name="Content Placeholder 2">
            <a:extLst>
              <a:ext uri="{FF2B5EF4-FFF2-40B4-BE49-F238E27FC236}">
                <a16:creationId xmlns:a16="http://schemas.microsoft.com/office/drawing/2014/main" id="{576BF09B-EE77-0DA0-7E2B-51A2270317EE}"/>
              </a:ext>
            </a:extLst>
          </p:cNvPr>
          <p:cNvSpPr>
            <a:spLocks noGrp="1"/>
          </p:cNvSpPr>
          <p:nvPr>
            <p:ph idx="1"/>
          </p:nvPr>
        </p:nvSpPr>
        <p:spPr/>
        <p:txBody>
          <a:bodyPr/>
          <a:lstStyle/>
          <a:p>
            <a:pPr marL="0" indent="0">
              <a:buNone/>
            </a:pPr>
            <a:r>
              <a:rPr lang="en-US" dirty="0"/>
              <a:t>It depends on the application</a:t>
            </a:r>
          </a:p>
          <a:p>
            <a:pPr marL="0" indent="0">
              <a:buNone/>
            </a:pPr>
            <a:endParaRPr lang="en-US" dirty="0"/>
          </a:p>
          <a:p>
            <a:pPr marL="0" indent="0">
              <a:buNone/>
            </a:pPr>
            <a:r>
              <a:rPr lang="en-US" dirty="0"/>
              <a:t>Controlled experiments in physics</a:t>
            </a:r>
          </a:p>
          <a:p>
            <a:pPr marL="457200" lvl="1" indent="0">
              <a:buNone/>
            </a:pPr>
            <a:r>
              <a:rPr lang="en-US" dirty="0"/>
              <a:t>RSEs are very low</a:t>
            </a:r>
          </a:p>
          <a:p>
            <a:pPr marL="457200" lvl="1" indent="0">
              <a:buNone/>
            </a:pPr>
            <a:r>
              <a:rPr lang="en-US" dirty="0"/>
              <a:t>Not unusual to see R</a:t>
            </a:r>
            <a:r>
              <a:rPr lang="en-US" baseline="30000" dirty="0"/>
              <a:t>2</a:t>
            </a:r>
            <a:r>
              <a:rPr lang="en-US" dirty="0"/>
              <a:t> value close to 1</a:t>
            </a:r>
          </a:p>
          <a:p>
            <a:pPr marL="0" indent="0">
              <a:buNone/>
            </a:pPr>
            <a:r>
              <a:rPr lang="en-US" dirty="0"/>
              <a:t>Marketing, psychology (social sciences)</a:t>
            </a:r>
          </a:p>
          <a:p>
            <a:pPr marL="457200" lvl="1" indent="0">
              <a:buNone/>
            </a:pPr>
            <a:r>
              <a:rPr lang="en-US" dirty="0"/>
              <a:t>Complex social phenomena</a:t>
            </a:r>
          </a:p>
          <a:p>
            <a:pPr marL="457200" lvl="1" indent="0">
              <a:buNone/>
            </a:pPr>
            <a:r>
              <a:rPr lang="en-US" dirty="0"/>
              <a:t>We focus on a variable X, but many other variables may affect Y</a:t>
            </a:r>
          </a:p>
          <a:p>
            <a:pPr marL="457200" lvl="1" indent="0">
              <a:buNone/>
            </a:pPr>
            <a:r>
              <a:rPr lang="en-US" dirty="0"/>
              <a:t>A value of R</a:t>
            </a:r>
            <a:r>
              <a:rPr lang="en-US" baseline="30000" dirty="0"/>
              <a:t>2</a:t>
            </a:r>
            <a:r>
              <a:rPr lang="en-US" dirty="0"/>
              <a:t> around 0.2 may be very high!</a:t>
            </a:r>
          </a:p>
        </p:txBody>
      </p:sp>
    </p:spTree>
    <p:extLst>
      <p:ext uri="{BB962C8B-B14F-4D97-AF65-F5344CB8AC3E}">
        <p14:creationId xmlns:p14="http://schemas.microsoft.com/office/powerpoint/2010/main" val="227063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D1EE9-1673-286D-31EA-1049ED793A00}"/>
              </a:ext>
            </a:extLst>
          </p:cNvPr>
          <p:cNvSpPr>
            <a:spLocks noGrp="1"/>
          </p:cNvSpPr>
          <p:nvPr>
            <p:ph type="title"/>
          </p:nvPr>
        </p:nvSpPr>
        <p:spPr/>
        <p:txBody>
          <a:bodyPr/>
          <a:lstStyle/>
          <a:p>
            <a:r>
              <a:rPr lang="en-US"/>
              <a:t>Multiple linear regression</a:t>
            </a:r>
          </a:p>
        </p:txBody>
      </p:sp>
      <p:sp>
        <p:nvSpPr>
          <p:cNvPr id="3" name="Content Placeholder 2">
            <a:extLst>
              <a:ext uri="{FF2B5EF4-FFF2-40B4-BE49-F238E27FC236}">
                <a16:creationId xmlns:a16="http://schemas.microsoft.com/office/drawing/2014/main" id="{9CDFCEBE-A496-0BB9-F5EC-B9C3F0930FEB}"/>
              </a:ext>
            </a:extLst>
          </p:cNvPr>
          <p:cNvSpPr>
            <a:spLocks noGrp="1"/>
          </p:cNvSpPr>
          <p:nvPr>
            <p:ph idx="1"/>
          </p:nvPr>
        </p:nvSpPr>
        <p:spPr/>
        <p:txBody>
          <a:bodyPr/>
          <a:lstStyle/>
          <a:p>
            <a:pPr marL="0" indent="0">
              <a:buNone/>
            </a:pPr>
            <a:r>
              <a:rPr lang="en-US" dirty="0"/>
              <a:t>Simple regression focuses on one predictor X</a:t>
            </a:r>
          </a:p>
          <a:p>
            <a:pPr marL="0" indent="0">
              <a:buNone/>
            </a:pPr>
            <a:r>
              <a:rPr lang="en-US" dirty="0"/>
              <a:t>Often, we have several predictors</a:t>
            </a:r>
          </a:p>
        </p:txBody>
      </p:sp>
      <p:pic>
        <p:nvPicPr>
          <p:cNvPr id="4" name="Picture 3">
            <a:extLst>
              <a:ext uri="{FF2B5EF4-FFF2-40B4-BE49-F238E27FC236}">
                <a16:creationId xmlns:a16="http://schemas.microsoft.com/office/drawing/2014/main" id="{A9A1AA14-5CFE-725C-C0B7-85E78B61EACD}"/>
              </a:ext>
            </a:extLst>
          </p:cNvPr>
          <p:cNvPicPr>
            <a:picLocks noChangeAspect="1"/>
          </p:cNvPicPr>
          <p:nvPr/>
        </p:nvPicPr>
        <p:blipFill>
          <a:blip r:embed="rId2"/>
          <a:stretch>
            <a:fillRect/>
          </a:stretch>
        </p:blipFill>
        <p:spPr>
          <a:xfrm>
            <a:off x="2326757" y="3292475"/>
            <a:ext cx="6993705" cy="3200400"/>
          </a:xfrm>
          <a:prstGeom prst="rect">
            <a:avLst/>
          </a:prstGeom>
        </p:spPr>
      </p:pic>
    </p:spTree>
    <p:extLst>
      <p:ext uri="{BB962C8B-B14F-4D97-AF65-F5344CB8AC3E}">
        <p14:creationId xmlns:p14="http://schemas.microsoft.com/office/powerpoint/2010/main" val="2194857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DA61F-FF3D-FC87-14BA-81D8939EE348}"/>
              </a:ext>
            </a:extLst>
          </p:cNvPr>
          <p:cNvSpPr>
            <a:spLocks noGrp="1"/>
          </p:cNvSpPr>
          <p:nvPr>
            <p:ph type="title"/>
          </p:nvPr>
        </p:nvSpPr>
        <p:spPr/>
        <p:txBody>
          <a:bodyPr/>
          <a:lstStyle/>
          <a:p>
            <a:r>
              <a:rPr lang="en-US"/>
              <a:t>Option 1: run separate simple linear regressions</a:t>
            </a:r>
          </a:p>
        </p:txBody>
      </p:sp>
      <p:sp>
        <p:nvSpPr>
          <p:cNvPr id="3" name="Content Placeholder 2">
            <a:extLst>
              <a:ext uri="{FF2B5EF4-FFF2-40B4-BE49-F238E27FC236}">
                <a16:creationId xmlns:a16="http://schemas.microsoft.com/office/drawing/2014/main" id="{50A10691-31F0-79CA-D8EF-CB882D462A8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6F4EB2A-1101-A532-1BD0-C4F9D68968EC}"/>
              </a:ext>
            </a:extLst>
          </p:cNvPr>
          <p:cNvPicPr>
            <a:picLocks noChangeAspect="1"/>
          </p:cNvPicPr>
          <p:nvPr/>
        </p:nvPicPr>
        <p:blipFill>
          <a:blip r:embed="rId3"/>
          <a:stretch>
            <a:fillRect/>
          </a:stretch>
        </p:blipFill>
        <p:spPr>
          <a:xfrm>
            <a:off x="2209800" y="1526746"/>
            <a:ext cx="7772400" cy="3804508"/>
          </a:xfrm>
          <a:prstGeom prst="rect">
            <a:avLst/>
          </a:prstGeom>
        </p:spPr>
      </p:pic>
      <p:pic>
        <p:nvPicPr>
          <p:cNvPr id="5" name="Picture 4">
            <a:extLst>
              <a:ext uri="{FF2B5EF4-FFF2-40B4-BE49-F238E27FC236}">
                <a16:creationId xmlns:a16="http://schemas.microsoft.com/office/drawing/2014/main" id="{654F13D1-2FA6-E703-6E8C-1C2104F36A96}"/>
              </a:ext>
            </a:extLst>
          </p:cNvPr>
          <p:cNvPicPr>
            <a:picLocks noChangeAspect="1"/>
          </p:cNvPicPr>
          <p:nvPr/>
        </p:nvPicPr>
        <p:blipFill>
          <a:blip r:embed="rId4"/>
          <a:stretch>
            <a:fillRect/>
          </a:stretch>
        </p:blipFill>
        <p:spPr>
          <a:xfrm>
            <a:off x="197832" y="5550723"/>
            <a:ext cx="7772400" cy="1252480"/>
          </a:xfrm>
          <a:prstGeom prst="rect">
            <a:avLst/>
          </a:prstGeom>
        </p:spPr>
      </p:pic>
    </p:spTree>
    <p:extLst>
      <p:ext uri="{BB962C8B-B14F-4D97-AF65-F5344CB8AC3E}">
        <p14:creationId xmlns:p14="http://schemas.microsoft.com/office/powerpoint/2010/main" val="595656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9A13F-4396-F5EB-5183-041CF960FAE3}"/>
              </a:ext>
            </a:extLst>
          </p:cNvPr>
          <p:cNvSpPr>
            <a:spLocks noGrp="1"/>
          </p:cNvSpPr>
          <p:nvPr>
            <p:ph type="title"/>
          </p:nvPr>
        </p:nvSpPr>
        <p:spPr/>
        <p:txBody>
          <a:bodyPr/>
          <a:lstStyle/>
          <a:p>
            <a:r>
              <a:rPr lang="en-US"/>
              <a:t>Problems with single regressions?</a:t>
            </a:r>
          </a:p>
        </p:txBody>
      </p:sp>
      <p:sp>
        <p:nvSpPr>
          <p:cNvPr id="3" name="Content Placeholder 2">
            <a:extLst>
              <a:ext uri="{FF2B5EF4-FFF2-40B4-BE49-F238E27FC236}">
                <a16:creationId xmlns:a16="http://schemas.microsoft.com/office/drawing/2014/main" id="{5E048C8D-6C60-A942-3FF9-4D2C3EF405D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26714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25B91-8F6B-8DA2-C2FE-0646A92218DF}"/>
              </a:ext>
            </a:extLst>
          </p:cNvPr>
          <p:cNvSpPr>
            <a:spLocks noGrp="1"/>
          </p:cNvSpPr>
          <p:nvPr>
            <p:ph type="title"/>
          </p:nvPr>
        </p:nvSpPr>
        <p:spPr/>
        <p:txBody>
          <a:bodyPr/>
          <a:lstStyle/>
          <a:p>
            <a:r>
              <a:rPr lang="en-US"/>
              <a:t>Option 2: extend the simple regression to many predictors (p&gt;1)</a:t>
            </a:r>
          </a:p>
        </p:txBody>
      </p:sp>
      <p:sp>
        <p:nvSpPr>
          <p:cNvPr id="3" name="Content Placeholder 2">
            <a:extLst>
              <a:ext uri="{FF2B5EF4-FFF2-40B4-BE49-F238E27FC236}">
                <a16:creationId xmlns:a16="http://schemas.microsoft.com/office/drawing/2014/main" id="{54B520F0-1478-2589-A9B5-97A9906D0C32}"/>
              </a:ext>
            </a:extLst>
          </p:cNvPr>
          <p:cNvSpPr>
            <a:spLocks noGrp="1"/>
          </p:cNvSpPr>
          <p:nvPr>
            <p:ph idx="1"/>
          </p:nvPr>
        </p:nvSpPr>
        <p:spPr>
          <a:xfrm>
            <a:off x="838200" y="5181599"/>
            <a:ext cx="10515600" cy="995363"/>
          </a:xfrm>
        </p:spPr>
        <p:txBody>
          <a:bodyPr/>
          <a:lstStyle/>
          <a:p>
            <a:pPr marL="0" indent="0">
              <a:buNone/>
            </a:pPr>
            <a:r>
              <a:rPr lang="en-US" i="1" dirty="0">
                <a:latin typeface="Courier New" panose="02070309020205020404" pitchFamily="49" charset="0"/>
                <a:cs typeface="Courier New" panose="02070309020205020404" pitchFamily="49" charset="0"/>
              </a:rPr>
              <a:t>β</a:t>
            </a:r>
            <a:r>
              <a:rPr lang="en-US" i="1" baseline="-25000" dirty="0">
                <a:latin typeface="Courier New" panose="02070309020205020404" pitchFamily="49" charset="0"/>
                <a:cs typeface="Courier New" panose="02070309020205020404" pitchFamily="49" charset="0"/>
              </a:rPr>
              <a:t>j</a:t>
            </a:r>
            <a:r>
              <a:rPr lang="en-US" dirty="0"/>
              <a:t> captures the average effect on Y of one unit increase of </a:t>
            </a:r>
            <a:r>
              <a:rPr lang="en-US" dirty="0" err="1"/>
              <a:t>X</a:t>
            </a:r>
            <a:r>
              <a:rPr lang="en-US" baseline="-25000" dirty="0" err="1"/>
              <a:t>j</a:t>
            </a:r>
            <a:r>
              <a:rPr lang="en-US" dirty="0"/>
              <a:t>, </a:t>
            </a:r>
            <a:r>
              <a:rPr lang="en-US" u="sng" dirty="0"/>
              <a:t>holding all other predictors fixed </a:t>
            </a:r>
          </a:p>
        </p:txBody>
      </p:sp>
      <p:pic>
        <p:nvPicPr>
          <p:cNvPr id="4" name="Picture 3">
            <a:extLst>
              <a:ext uri="{FF2B5EF4-FFF2-40B4-BE49-F238E27FC236}">
                <a16:creationId xmlns:a16="http://schemas.microsoft.com/office/drawing/2014/main" id="{83705EA0-3CC8-5EA9-4325-E673D54AC2E7}"/>
              </a:ext>
            </a:extLst>
          </p:cNvPr>
          <p:cNvPicPr>
            <a:picLocks noChangeAspect="1"/>
          </p:cNvPicPr>
          <p:nvPr/>
        </p:nvPicPr>
        <p:blipFill>
          <a:blip r:embed="rId2"/>
          <a:stretch>
            <a:fillRect/>
          </a:stretch>
        </p:blipFill>
        <p:spPr>
          <a:xfrm>
            <a:off x="2959100" y="1981200"/>
            <a:ext cx="5664200" cy="609600"/>
          </a:xfrm>
          <a:prstGeom prst="rect">
            <a:avLst/>
          </a:prstGeom>
        </p:spPr>
      </p:pic>
      <p:pic>
        <p:nvPicPr>
          <p:cNvPr id="5" name="Picture 4">
            <a:extLst>
              <a:ext uri="{FF2B5EF4-FFF2-40B4-BE49-F238E27FC236}">
                <a16:creationId xmlns:a16="http://schemas.microsoft.com/office/drawing/2014/main" id="{5087B5F0-C9CE-56FF-7962-3A5F870D0AC9}"/>
              </a:ext>
            </a:extLst>
          </p:cNvPr>
          <p:cNvPicPr>
            <a:picLocks noChangeAspect="1"/>
          </p:cNvPicPr>
          <p:nvPr/>
        </p:nvPicPr>
        <p:blipFill>
          <a:blip r:embed="rId3"/>
          <a:stretch>
            <a:fillRect/>
          </a:stretch>
        </p:blipFill>
        <p:spPr>
          <a:xfrm>
            <a:off x="1789029" y="2681287"/>
            <a:ext cx="7683500" cy="609600"/>
          </a:xfrm>
          <a:prstGeom prst="rect">
            <a:avLst/>
          </a:prstGeom>
        </p:spPr>
      </p:pic>
    </p:spTree>
    <p:extLst>
      <p:ext uri="{BB962C8B-B14F-4D97-AF65-F5344CB8AC3E}">
        <p14:creationId xmlns:p14="http://schemas.microsoft.com/office/powerpoint/2010/main" val="875995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EF08-C6DD-2CA8-3854-444C9EE74C4F}"/>
              </a:ext>
            </a:extLst>
          </p:cNvPr>
          <p:cNvSpPr>
            <a:spLocks noGrp="1"/>
          </p:cNvSpPr>
          <p:nvPr>
            <p:ph type="title"/>
          </p:nvPr>
        </p:nvSpPr>
        <p:spPr/>
        <p:txBody>
          <a:bodyPr/>
          <a:lstStyle/>
          <a:p>
            <a:r>
              <a:rPr lang="en-US"/>
              <a:t>Estimating the coefficients</a:t>
            </a:r>
          </a:p>
        </p:txBody>
      </p:sp>
      <p:sp>
        <p:nvSpPr>
          <p:cNvPr id="3" name="Content Placeholder 2">
            <a:extLst>
              <a:ext uri="{FF2B5EF4-FFF2-40B4-BE49-F238E27FC236}">
                <a16:creationId xmlns:a16="http://schemas.microsoft.com/office/drawing/2014/main" id="{F0ED6D1B-1C61-3B89-101B-5DD1E800E0CB}"/>
              </a:ext>
            </a:extLst>
          </p:cNvPr>
          <p:cNvSpPr>
            <a:spLocks noGrp="1"/>
          </p:cNvSpPr>
          <p:nvPr>
            <p:ph idx="1"/>
          </p:nvPr>
        </p:nvSpPr>
        <p:spPr>
          <a:xfrm>
            <a:off x="838200" y="5069305"/>
            <a:ext cx="10515600" cy="1107658"/>
          </a:xfrm>
        </p:spPr>
        <p:txBody>
          <a:bodyPr>
            <a:normAutofit fontScale="92500" lnSpcReduction="20000"/>
          </a:bodyPr>
          <a:lstStyle/>
          <a:p>
            <a:pPr marL="0" indent="0">
              <a:buNone/>
            </a:pPr>
            <a:r>
              <a:rPr lang="en-US" dirty="0" err="1"/>
              <a:t>Minimise</a:t>
            </a:r>
            <a:r>
              <a:rPr lang="en-US" dirty="0"/>
              <a:t> the residual squared errors (least square errors)</a:t>
            </a:r>
          </a:p>
          <a:p>
            <a:pPr marL="0" indent="0">
              <a:buNone/>
            </a:pPr>
            <a:r>
              <a:rPr lang="en-US" dirty="0"/>
              <a:t>Complex formula, but can be calculated by any statistical software package</a:t>
            </a:r>
          </a:p>
          <a:p>
            <a:endParaRPr lang="en-US" dirty="0"/>
          </a:p>
        </p:txBody>
      </p:sp>
      <p:pic>
        <p:nvPicPr>
          <p:cNvPr id="4" name="Picture 3">
            <a:extLst>
              <a:ext uri="{FF2B5EF4-FFF2-40B4-BE49-F238E27FC236}">
                <a16:creationId xmlns:a16="http://schemas.microsoft.com/office/drawing/2014/main" id="{177F0F00-9A9C-34F3-5192-DF7C3409BBEA}"/>
              </a:ext>
            </a:extLst>
          </p:cNvPr>
          <p:cNvPicPr>
            <a:picLocks noChangeAspect="1"/>
          </p:cNvPicPr>
          <p:nvPr/>
        </p:nvPicPr>
        <p:blipFill>
          <a:blip r:embed="rId2"/>
          <a:stretch>
            <a:fillRect/>
          </a:stretch>
        </p:blipFill>
        <p:spPr>
          <a:xfrm>
            <a:off x="3016250" y="1570038"/>
            <a:ext cx="5664200" cy="609600"/>
          </a:xfrm>
          <a:prstGeom prst="rect">
            <a:avLst/>
          </a:prstGeom>
        </p:spPr>
      </p:pic>
      <p:pic>
        <p:nvPicPr>
          <p:cNvPr id="5" name="Picture 4">
            <a:extLst>
              <a:ext uri="{FF2B5EF4-FFF2-40B4-BE49-F238E27FC236}">
                <a16:creationId xmlns:a16="http://schemas.microsoft.com/office/drawing/2014/main" id="{0E19CB87-E8C3-0939-5558-59032153E67F}"/>
              </a:ext>
            </a:extLst>
          </p:cNvPr>
          <p:cNvPicPr>
            <a:picLocks noChangeAspect="1"/>
          </p:cNvPicPr>
          <p:nvPr/>
        </p:nvPicPr>
        <p:blipFill>
          <a:blip r:embed="rId3"/>
          <a:stretch>
            <a:fillRect/>
          </a:stretch>
        </p:blipFill>
        <p:spPr>
          <a:xfrm>
            <a:off x="2372561" y="2314575"/>
            <a:ext cx="7127628" cy="788067"/>
          </a:xfrm>
          <a:prstGeom prst="rect">
            <a:avLst/>
          </a:prstGeom>
        </p:spPr>
      </p:pic>
      <p:pic>
        <p:nvPicPr>
          <p:cNvPr id="7" name="Picture 6">
            <a:extLst>
              <a:ext uri="{FF2B5EF4-FFF2-40B4-BE49-F238E27FC236}">
                <a16:creationId xmlns:a16="http://schemas.microsoft.com/office/drawing/2014/main" id="{3B35F6A3-3A2E-648C-BC61-5EE87F537F02}"/>
              </a:ext>
            </a:extLst>
          </p:cNvPr>
          <p:cNvPicPr>
            <a:picLocks noChangeAspect="1"/>
          </p:cNvPicPr>
          <p:nvPr/>
        </p:nvPicPr>
        <p:blipFill>
          <a:blip r:embed="rId4"/>
          <a:stretch>
            <a:fillRect/>
          </a:stretch>
        </p:blipFill>
        <p:spPr>
          <a:xfrm>
            <a:off x="2421022" y="2986505"/>
            <a:ext cx="7505700" cy="2082800"/>
          </a:xfrm>
          <a:prstGeom prst="rect">
            <a:avLst/>
          </a:prstGeom>
        </p:spPr>
      </p:pic>
    </p:spTree>
    <p:extLst>
      <p:ext uri="{BB962C8B-B14F-4D97-AF65-F5344CB8AC3E}">
        <p14:creationId xmlns:p14="http://schemas.microsoft.com/office/powerpoint/2010/main" val="1110814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FE719A-A4BD-2A99-FF7A-1F62EBE8D1C7}"/>
              </a:ext>
            </a:extLst>
          </p:cNvPr>
          <p:cNvSpPr>
            <a:spLocks noGrp="1"/>
          </p:cNvSpPr>
          <p:nvPr>
            <p:ph idx="1"/>
          </p:nvPr>
        </p:nvSpPr>
        <p:spPr>
          <a:xfrm>
            <a:off x="838200" y="1825625"/>
            <a:ext cx="3669632" cy="4351338"/>
          </a:xfrm>
        </p:spPr>
        <p:txBody>
          <a:bodyPr/>
          <a:lstStyle/>
          <a:p>
            <a:pPr marL="0" indent="0">
              <a:buNone/>
            </a:pPr>
            <a:r>
              <a:rPr lang="en-US"/>
              <a:t>Visual representation for p=2</a:t>
            </a:r>
          </a:p>
        </p:txBody>
      </p:sp>
      <p:pic>
        <p:nvPicPr>
          <p:cNvPr id="4" name="Picture 3">
            <a:extLst>
              <a:ext uri="{FF2B5EF4-FFF2-40B4-BE49-F238E27FC236}">
                <a16:creationId xmlns:a16="http://schemas.microsoft.com/office/drawing/2014/main" id="{F2C2F685-0E60-83EB-2866-E645FAB6D561}"/>
              </a:ext>
            </a:extLst>
          </p:cNvPr>
          <p:cNvPicPr>
            <a:picLocks noChangeAspect="1"/>
          </p:cNvPicPr>
          <p:nvPr/>
        </p:nvPicPr>
        <p:blipFill>
          <a:blip r:embed="rId2"/>
          <a:stretch>
            <a:fillRect/>
          </a:stretch>
        </p:blipFill>
        <p:spPr>
          <a:xfrm>
            <a:off x="4891974" y="0"/>
            <a:ext cx="6859737" cy="6646480"/>
          </a:xfrm>
          <a:prstGeom prst="rect">
            <a:avLst/>
          </a:prstGeom>
        </p:spPr>
      </p:pic>
    </p:spTree>
    <p:extLst>
      <p:ext uri="{BB962C8B-B14F-4D97-AF65-F5344CB8AC3E}">
        <p14:creationId xmlns:p14="http://schemas.microsoft.com/office/powerpoint/2010/main" val="456679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248D2-0980-526F-6596-ED064F5EE53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4735967-269F-FD3E-3F20-D723DF3C3716}"/>
              </a:ext>
            </a:extLst>
          </p:cNvPr>
          <p:cNvSpPr>
            <a:spLocks noGrp="1"/>
          </p:cNvSpPr>
          <p:nvPr>
            <p:ph idx="1"/>
          </p:nvPr>
        </p:nvSpPr>
        <p:spPr>
          <a:xfrm>
            <a:off x="838200" y="3047999"/>
            <a:ext cx="10515600" cy="3128963"/>
          </a:xfrm>
        </p:spPr>
        <p:txBody>
          <a:bodyPr>
            <a:normAutofit lnSpcReduction="10000"/>
          </a:bodyPr>
          <a:lstStyle/>
          <a:p>
            <a:pPr marL="0" indent="0">
              <a:buNone/>
            </a:pPr>
            <a:r>
              <a:rPr lang="en-US" dirty="0"/>
              <a:t>An additional 1000$ spending on radio results on average in additional sales of 189 units</a:t>
            </a:r>
          </a:p>
          <a:p>
            <a:pPr marL="0" indent="0">
              <a:buNone/>
            </a:pPr>
            <a:endParaRPr lang="en-US" dirty="0"/>
          </a:p>
          <a:p>
            <a:pPr marL="0" indent="0">
              <a:buNone/>
            </a:pPr>
            <a:r>
              <a:rPr lang="en-US" dirty="0"/>
              <a:t>An additional 1000$ spending on TV results on average in additional sales of 46 units</a:t>
            </a:r>
          </a:p>
          <a:p>
            <a:pPr marL="0" indent="0">
              <a:buNone/>
            </a:pPr>
            <a:endParaRPr lang="en-US" dirty="0"/>
          </a:p>
          <a:p>
            <a:pPr marL="0" indent="0">
              <a:buNone/>
            </a:pPr>
            <a:r>
              <a:rPr lang="en-US" dirty="0"/>
              <a:t>The newspaper coefficient is close to zero and not significant</a:t>
            </a:r>
          </a:p>
        </p:txBody>
      </p:sp>
      <p:pic>
        <p:nvPicPr>
          <p:cNvPr id="4" name="Picture 3">
            <a:extLst>
              <a:ext uri="{FF2B5EF4-FFF2-40B4-BE49-F238E27FC236}">
                <a16:creationId xmlns:a16="http://schemas.microsoft.com/office/drawing/2014/main" id="{964A427E-60AD-6F71-C9EA-4DA19701E52F}"/>
              </a:ext>
            </a:extLst>
          </p:cNvPr>
          <p:cNvPicPr>
            <a:picLocks noChangeAspect="1"/>
          </p:cNvPicPr>
          <p:nvPr/>
        </p:nvPicPr>
        <p:blipFill>
          <a:blip r:embed="rId2"/>
          <a:stretch>
            <a:fillRect/>
          </a:stretch>
        </p:blipFill>
        <p:spPr>
          <a:xfrm>
            <a:off x="2209800" y="681037"/>
            <a:ext cx="7772400" cy="1878525"/>
          </a:xfrm>
          <a:prstGeom prst="rect">
            <a:avLst/>
          </a:prstGeom>
        </p:spPr>
      </p:pic>
    </p:spTree>
    <p:extLst>
      <p:ext uri="{BB962C8B-B14F-4D97-AF65-F5344CB8AC3E}">
        <p14:creationId xmlns:p14="http://schemas.microsoft.com/office/powerpoint/2010/main" val="811798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4CB7D-8FD2-E3CC-16A9-60DB761C1A3F}"/>
              </a:ext>
            </a:extLst>
          </p:cNvPr>
          <p:cNvSpPr>
            <a:spLocks noGrp="1"/>
          </p:cNvSpPr>
          <p:nvPr>
            <p:ph type="title"/>
          </p:nvPr>
        </p:nvSpPr>
        <p:spPr>
          <a:xfrm>
            <a:off x="740791" y="162194"/>
            <a:ext cx="10515600" cy="1325563"/>
          </a:xfrm>
        </p:spPr>
        <p:txBody>
          <a:bodyPr/>
          <a:lstStyle/>
          <a:p>
            <a:r>
              <a:rPr lang="en-US"/>
              <a:t>Multiple v. many single regressions</a:t>
            </a:r>
          </a:p>
        </p:txBody>
      </p:sp>
      <p:pic>
        <p:nvPicPr>
          <p:cNvPr id="4" name="Picture 3">
            <a:extLst>
              <a:ext uri="{FF2B5EF4-FFF2-40B4-BE49-F238E27FC236}">
                <a16:creationId xmlns:a16="http://schemas.microsoft.com/office/drawing/2014/main" id="{C23DC375-A7FA-B150-B6D6-1DF02442586D}"/>
              </a:ext>
            </a:extLst>
          </p:cNvPr>
          <p:cNvPicPr>
            <a:picLocks noChangeAspect="1"/>
          </p:cNvPicPr>
          <p:nvPr/>
        </p:nvPicPr>
        <p:blipFill>
          <a:blip r:embed="rId2"/>
          <a:stretch>
            <a:fillRect/>
          </a:stretch>
        </p:blipFill>
        <p:spPr>
          <a:xfrm>
            <a:off x="5998591" y="3429001"/>
            <a:ext cx="5889606" cy="2882900"/>
          </a:xfrm>
          <a:prstGeom prst="rect">
            <a:avLst/>
          </a:prstGeom>
        </p:spPr>
      </p:pic>
      <p:pic>
        <p:nvPicPr>
          <p:cNvPr id="5" name="Picture 4">
            <a:extLst>
              <a:ext uri="{FF2B5EF4-FFF2-40B4-BE49-F238E27FC236}">
                <a16:creationId xmlns:a16="http://schemas.microsoft.com/office/drawing/2014/main" id="{E53FD33E-5905-A085-2627-F1ECAC67D0C4}"/>
              </a:ext>
            </a:extLst>
          </p:cNvPr>
          <p:cNvPicPr>
            <a:picLocks noChangeAspect="1"/>
          </p:cNvPicPr>
          <p:nvPr/>
        </p:nvPicPr>
        <p:blipFill>
          <a:blip r:embed="rId3"/>
          <a:stretch>
            <a:fillRect/>
          </a:stretch>
        </p:blipFill>
        <p:spPr>
          <a:xfrm>
            <a:off x="6040116" y="1820710"/>
            <a:ext cx="5848081" cy="942386"/>
          </a:xfrm>
          <a:prstGeom prst="rect">
            <a:avLst/>
          </a:prstGeom>
        </p:spPr>
      </p:pic>
      <p:pic>
        <p:nvPicPr>
          <p:cNvPr id="6" name="Picture 5">
            <a:extLst>
              <a:ext uri="{FF2B5EF4-FFF2-40B4-BE49-F238E27FC236}">
                <a16:creationId xmlns:a16="http://schemas.microsoft.com/office/drawing/2014/main" id="{4C333E24-810B-87D6-679F-DF2FB5923938}"/>
              </a:ext>
            </a:extLst>
          </p:cNvPr>
          <p:cNvPicPr>
            <a:picLocks noChangeAspect="1"/>
          </p:cNvPicPr>
          <p:nvPr/>
        </p:nvPicPr>
        <p:blipFill>
          <a:blip r:embed="rId4"/>
          <a:stretch>
            <a:fillRect/>
          </a:stretch>
        </p:blipFill>
        <p:spPr>
          <a:xfrm>
            <a:off x="303803" y="2763096"/>
            <a:ext cx="5484519" cy="1325563"/>
          </a:xfrm>
          <a:prstGeom prst="rect">
            <a:avLst/>
          </a:prstGeom>
        </p:spPr>
      </p:pic>
      <p:sp>
        <p:nvSpPr>
          <p:cNvPr id="7" name="Rounded Rectangle 6">
            <a:extLst>
              <a:ext uri="{FF2B5EF4-FFF2-40B4-BE49-F238E27FC236}">
                <a16:creationId xmlns:a16="http://schemas.microsoft.com/office/drawing/2014/main" id="{54B695BD-13AB-E55B-D382-5146D5B93332}"/>
              </a:ext>
            </a:extLst>
          </p:cNvPr>
          <p:cNvSpPr/>
          <p:nvPr/>
        </p:nvSpPr>
        <p:spPr>
          <a:xfrm>
            <a:off x="303803" y="3769895"/>
            <a:ext cx="5484519" cy="318764"/>
          </a:xfrm>
          <a:prstGeom prst="roundRect">
            <a:avLst/>
          </a:prstGeom>
          <a:solidFill>
            <a:srgbClr val="FFFF00">
              <a:alpha val="18039"/>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E76F39C9-EE2E-8BB6-F209-D0F2853EBC14}"/>
              </a:ext>
            </a:extLst>
          </p:cNvPr>
          <p:cNvSpPr/>
          <p:nvPr/>
        </p:nvSpPr>
        <p:spPr>
          <a:xfrm>
            <a:off x="6040116" y="5979087"/>
            <a:ext cx="5734789" cy="401052"/>
          </a:xfrm>
          <a:prstGeom prst="roundRect">
            <a:avLst/>
          </a:prstGeom>
          <a:solidFill>
            <a:srgbClr val="FFFF00">
              <a:alpha val="18039"/>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D7893169-5DDD-4C1E-3106-F4C8866DFA9B}"/>
              </a:ext>
            </a:extLst>
          </p:cNvPr>
          <p:cNvSpPr>
            <a:spLocks noGrp="1"/>
          </p:cNvSpPr>
          <p:nvPr>
            <p:ph idx="1"/>
          </p:nvPr>
        </p:nvSpPr>
        <p:spPr>
          <a:xfrm>
            <a:off x="740791" y="4980322"/>
            <a:ext cx="4632158" cy="1115678"/>
          </a:xfrm>
        </p:spPr>
        <p:txBody>
          <a:bodyPr>
            <a:normAutofit/>
          </a:bodyPr>
          <a:lstStyle/>
          <a:p>
            <a:pPr marL="0" indent="0">
              <a:buNone/>
            </a:pPr>
            <a:r>
              <a:rPr lang="en-US"/>
              <a:t>How do we explain this?</a:t>
            </a:r>
          </a:p>
        </p:txBody>
      </p:sp>
    </p:spTree>
    <p:extLst>
      <p:ext uri="{BB962C8B-B14F-4D97-AF65-F5344CB8AC3E}">
        <p14:creationId xmlns:p14="http://schemas.microsoft.com/office/powerpoint/2010/main" val="37237027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08737-BCA2-7F05-7C41-5EB1D5841F73}"/>
              </a:ext>
            </a:extLst>
          </p:cNvPr>
          <p:cNvSpPr>
            <a:spLocks noGrp="1"/>
          </p:cNvSpPr>
          <p:nvPr>
            <p:ph type="title"/>
          </p:nvPr>
        </p:nvSpPr>
        <p:spPr/>
        <p:txBody>
          <a:bodyPr/>
          <a:lstStyle/>
          <a:p>
            <a:r>
              <a:rPr lang="en-US"/>
              <a:t>Let’s look at correlations of predictors</a:t>
            </a:r>
          </a:p>
        </p:txBody>
      </p:sp>
      <p:sp>
        <p:nvSpPr>
          <p:cNvPr id="3" name="Content Placeholder 2">
            <a:extLst>
              <a:ext uri="{FF2B5EF4-FFF2-40B4-BE49-F238E27FC236}">
                <a16:creationId xmlns:a16="http://schemas.microsoft.com/office/drawing/2014/main" id="{EA50CF61-2980-7D92-604A-29FA4EBF9C58}"/>
              </a:ext>
            </a:extLst>
          </p:cNvPr>
          <p:cNvSpPr>
            <a:spLocks noGrp="1"/>
          </p:cNvSpPr>
          <p:nvPr>
            <p:ph idx="1"/>
          </p:nvPr>
        </p:nvSpPr>
        <p:spPr>
          <a:xfrm>
            <a:off x="407068" y="1847934"/>
            <a:ext cx="4533900" cy="1809665"/>
          </a:xfrm>
        </p:spPr>
        <p:txBody>
          <a:bodyPr>
            <a:normAutofit fontScale="92500" lnSpcReduction="20000"/>
          </a:bodyPr>
          <a:lstStyle/>
          <a:p>
            <a:pPr marL="0" indent="0">
              <a:buNone/>
            </a:pPr>
            <a:r>
              <a:rPr lang="en-US" dirty="0"/>
              <a:t>Correlation coefficient evaluates the linear correlation between values of populations of X and Y (how much the values of X and Y are similar)</a:t>
            </a:r>
          </a:p>
        </p:txBody>
      </p:sp>
      <p:pic>
        <p:nvPicPr>
          <p:cNvPr id="4" name="Picture 3">
            <a:extLst>
              <a:ext uri="{FF2B5EF4-FFF2-40B4-BE49-F238E27FC236}">
                <a16:creationId xmlns:a16="http://schemas.microsoft.com/office/drawing/2014/main" id="{797927A9-EB3B-A534-6B12-271FAB5A248E}"/>
              </a:ext>
            </a:extLst>
          </p:cNvPr>
          <p:cNvPicPr>
            <a:picLocks noChangeAspect="1"/>
          </p:cNvPicPr>
          <p:nvPr/>
        </p:nvPicPr>
        <p:blipFill>
          <a:blip r:embed="rId3"/>
          <a:stretch>
            <a:fillRect/>
          </a:stretch>
        </p:blipFill>
        <p:spPr>
          <a:xfrm>
            <a:off x="5155532" y="1847935"/>
            <a:ext cx="6629400" cy="1028700"/>
          </a:xfrm>
          <a:prstGeom prst="rect">
            <a:avLst/>
          </a:prstGeom>
        </p:spPr>
      </p:pic>
      <p:pic>
        <p:nvPicPr>
          <p:cNvPr id="5" name="Picture 4">
            <a:extLst>
              <a:ext uri="{FF2B5EF4-FFF2-40B4-BE49-F238E27FC236}">
                <a16:creationId xmlns:a16="http://schemas.microsoft.com/office/drawing/2014/main" id="{37E196B4-A2C4-5803-1678-0F0AA90140F5}"/>
              </a:ext>
            </a:extLst>
          </p:cNvPr>
          <p:cNvPicPr>
            <a:picLocks noChangeAspect="1"/>
          </p:cNvPicPr>
          <p:nvPr/>
        </p:nvPicPr>
        <p:blipFill>
          <a:blip r:embed="rId4"/>
          <a:stretch>
            <a:fillRect/>
          </a:stretch>
        </p:blipFill>
        <p:spPr>
          <a:xfrm>
            <a:off x="407068" y="4285916"/>
            <a:ext cx="6985000" cy="1879600"/>
          </a:xfrm>
          <a:prstGeom prst="rect">
            <a:avLst/>
          </a:prstGeom>
        </p:spPr>
      </p:pic>
      <p:sp>
        <p:nvSpPr>
          <p:cNvPr id="6" name="Rounded Rectangle 5">
            <a:extLst>
              <a:ext uri="{FF2B5EF4-FFF2-40B4-BE49-F238E27FC236}">
                <a16:creationId xmlns:a16="http://schemas.microsoft.com/office/drawing/2014/main" id="{3A36D480-20EB-67FE-DE7A-8D4BBD8FDE70}"/>
              </a:ext>
            </a:extLst>
          </p:cNvPr>
          <p:cNvSpPr/>
          <p:nvPr/>
        </p:nvSpPr>
        <p:spPr>
          <a:xfrm>
            <a:off x="407068" y="5066881"/>
            <a:ext cx="5688932" cy="369814"/>
          </a:xfrm>
          <a:prstGeom prst="roundRect">
            <a:avLst/>
          </a:prstGeom>
          <a:solidFill>
            <a:srgbClr val="FFFF00">
              <a:alpha val="18039"/>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5005A0EE-6C6B-A13C-01D0-245E735A64EF}"/>
              </a:ext>
            </a:extLst>
          </p:cNvPr>
          <p:cNvSpPr/>
          <p:nvPr/>
        </p:nvSpPr>
        <p:spPr>
          <a:xfrm>
            <a:off x="4547602" y="4253657"/>
            <a:ext cx="1548398" cy="1183037"/>
          </a:xfrm>
          <a:prstGeom prst="roundRect">
            <a:avLst/>
          </a:prstGeom>
          <a:solidFill>
            <a:srgbClr val="FFFF00">
              <a:alpha val="18039"/>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54818275-507C-5D3F-4BD8-B8C8A29A00D9}"/>
              </a:ext>
            </a:extLst>
          </p:cNvPr>
          <p:cNvCxnSpPr/>
          <p:nvPr/>
        </p:nvCxnSpPr>
        <p:spPr>
          <a:xfrm flipV="1">
            <a:off x="2711116" y="5277853"/>
            <a:ext cx="2229852" cy="1251284"/>
          </a:xfrm>
          <a:prstGeom prst="straightConnector1">
            <a:avLst/>
          </a:prstGeom>
          <a:ln w="57150">
            <a:tailEnd type="triangle"/>
          </a:ln>
        </p:spPr>
        <p:style>
          <a:lnRef idx="3">
            <a:schemeClr val="accent5"/>
          </a:lnRef>
          <a:fillRef idx="0">
            <a:schemeClr val="accent5"/>
          </a:fillRef>
          <a:effectRef idx="2">
            <a:schemeClr val="accent5"/>
          </a:effectRef>
          <a:fontRef idx="minor">
            <a:schemeClr val="tx1"/>
          </a:fontRef>
        </p:style>
      </p:cxnSp>
      <p:sp>
        <p:nvSpPr>
          <p:cNvPr id="10" name="Content Placeholder 2">
            <a:extLst>
              <a:ext uri="{FF2B5EF4-FFF2-40B4-BE49-F238E27FC236}">
                <a16:creationId xmlns:a16="http://schemas.microsoft.com/office/drawing/2014/main" id="{105F38BC-7D00-9D8A-25DB-16B6548460A6}"/>
              </a:ext>
            </a:extLst>
          </p:cNvPr>
          <p:cNvSpPr txBox="1">
            <a:spLocks/>
          </p:cNvSpPr>
          <p:nvPr/>
        </p:nvSpPr>
        <p:spPr>
          <a:xfrm>
            <a:off x="8195480" y="5199797"/>
            <a:ext cx="3996519" cy="84807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Radio and newspaper are highly correlated (~35%)</a:t>
            </a:r>
          </a:p>
        </p:txBody>
      </p:sp>
    </p:spTree>
    <p:extLst>
      <p:ext uri="{BB962C8B-B14F-4D97-AF65-F5344CB8AC3E}">
        <p14:creationId xmlns:p14="http://schemas.microsoft.com/office/powerpoint/2010/main" val="31128038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5AC73-6EF6-9944-BA49-064AC5FB965E}"/>
              </a:ext>
            </a:extLst>
          </p:cNvPr>
          <p:cNvSpPr>
            <a:spLocks noGrp="1"/>
          </p:cNvSpPr>
          <p:nvPr>
            <p:ph type="title"/>
          </p:nvPr>
        </p:nvSpPr>
        <p:spPr>
          <a:xfrm>
            <a:off x="381845" y="336884"/>
            <a:ext cx="7384991" cy="769425"/>
          </a:xfrm>
        </p:spPr>
        <p:txBody>
          <a:bodyPr anchor="b">
            <a:normAutofit/>
          </a:bodyPr>
          <a:lstStyle/>
          <a:p>
            <a:r>
              <a:rPr lang="en-US" sz="3200"/>
              <a:t>Spurious correlations are everywhere…</a:t>
            </a:r>
          </a:p>
        </p:txBody>
      </p:sp>
      <p:sp>
        <p:nvSpPr>
          <p:cNvPr id="3" name="Content Placeholder 2">
            <a:extLst>
              <a:ext uri="{FF2B5EF4-FFF2-40B4-BE49-F238E27FC236}">
                <a16:creationId xmlns:a16="http://schemas.microsoft.com/office/drawing/2014/main" id="{F4C311FE-ECF6-D8D7-17BD-CBC84B34E508}"/>
              </a:ext>
            </a:extLst>
          </p:cNvPr>
          <p:cNvSpPr>
            <a:spLocks noGrp="1"/>
          </p:cNvSpPr>
          <p:nvPr>
            <p:ph idx="1"/>
          </p:nvPr>
        </p:nvSpPr>
        <p:spPr>
          <a:xfrm>
            <a:off x="381845" y="2533476"/>
            <a:ext cx="4915602" cy="4324524"/>
          </a:xfrm>
        </p:spPr>
        <p:txBody>
          <a:bodyPr anchor="t">
            <a:normAutofit/>
          </a:bodyPr>
          <a:lstStyle/>
          <a:p>
            <a:pPr marL="0" indent="0">
              <a:buNone/>
            </a:pPr>
            <a:r>
              <a:rPr lang="en-US" sz="2400" dirty="0"/>
              <a:t>Ice cream sales can be a good predictor of shark attacks in a single regression model</a:t>
            </a:r>
          </a:p>
          <a:p>
            <a:pPr marL="457200" lvl="1" indent="0">
              <a:buNone/>
            </a:pPr>
            <a:r>
              <a:rPr lang="en-US" dirty="0"/>
              <a:t>Ban ice cream sales to reduce shark attacks?</a:t>
            </a:r>
            <a:br>
              <a:rPr lang="en-US" sz="2000" dirty="0"/>
            </a:br>
            <a:endParaRPr lang="en-US" sz="2000" dirty="0"/>
          </a:p>
          <a:p>
            <a:pPr marL="0" indent="0">
              <a:buNone/>
            </a:pPr>
            <a:br>
              <a:rPr lang="en-US" sz="2400" dirty="0"/>
            </a:br>
            <a:r>
              <a:rPr lang="en-US" sz="2400" dirty="0"/>
              <a:t>Or, better, run a multiple regression with temperature as a predictor </a:t>
            </a:r>
            <a:r>
              <a:rPr lang="en-US" sz="2400" dirty="0">
                <a:sym typeface="Wingdings" pitchFamily="2" charset="2"/>
              </a:rPr>
              <a:t></a:t>
            </a:r>
            <a:endParaRPr lang="en-US" sz="2400" dirty="0"/>
          </a:p>
        </p:txBody>
      </p:sp>
      <p:pic>
        <p:nvPicPr>
          <p:cNvPr id="1026" name="Picture 2" descr="Shark Attacks, Ice Creams, and the Randomised Trial • theGIST">
            <a:extLst>
              <a:ext uri="{FF2B5EF4-FFF2-40B4-BE49-F238E27FC236}">
                <a16:creationId xmlns:a16="http://schemas.microsoft.com/office/drawing/2014/main" id="{9AEE4231-8633-6876-83CD-A57B45D75BB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20809" y="1264610"/>
            <a:ext cx="6389346" cy="4328780"/>
          </a:xfrm>
          <a:prstGeom prst="rect">
            <a:avLst/>
          </a:prstGeom>
          <a:noFill/>
          <a:extLst>
            <a:ext uri="{909E8E84-426E-40DD-AFC4-6F175D3DCCD1}">
              <a14:hiddenFill xmlns:a14="http://schemas.microsoft.com/office/drawing/2010/main">
                <a:solidFill>
                  <a:srgbClr val="FFFFFF"/>
                </a:solidFill>
              </a14:hiddenFill>
            </a:ext>
          </a:extLst>
        </p:spPr>
      </p:pic>
      <p:grpSp>
        <p:nvGrpSpPr>
          <p:cNvPr id="1031" name="Group 1030">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032" name="Rectangle 103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69599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384E8-79ED-F051-5002-21B546EA6633}"/>
              </a:ext>
            </a:extLst>
          </p:cNvPr>
          <p:cNvSpPr>
            <a:spLocks noGrp="1"/>
          </p:cNvSpPr>
          <p:nvPr>
            <p:ph type="title"/>
          </p:nvPr>
        </p:nvSpPr>
        <p:spPr/>
        <p:txBody>
          <a:bodyPr/>
          <a:lstStyle/>
          <a:p>
            <a:r>
              <a:rPr lang="en-US"/>
              <a:t>Important questions with multiple regression</a:t>
            </a:r>
          </a:p>
        </p:txBody>
      </p:sp>
      <p:sp>
        <p:nvSpPr>
          <p:cNvPr id="3" name="Content Placeholder 2">
            <a:extLst>
              <a:ext uri="{FF2B5EF4-FFF2-40B4-BE49-F238E27FC236}">
                <a16:creationId xmlns:a16="http://schemas.microsoft.com/office/drawing/2014/main" id="{A3650F0F-2A52-C743-AA43-A0DEB91295D7}"/>
              </a:ext>
            </a:extLst>
          </p:cNvPr>
          <p:cNvSpPr>
            <a:spLocks noGrp="1"/>
          </p:cNvSpPr>
          <p:nvPr>
            <p:ph idx="1"/>
          </p:nvPr>
        </p:nvSpPr>
        <p:spPr/>
        <p:txBody>
          <a:bodyPr/>
          <a:lstStyle/>
          <a:p>
            <a:pPr marL="0" indent="0">
              <a:buNone/>
            </a:pPr>
            <a:r>
              <a:rPr lang="en-US" dirty="0"/>
              <a:t>Is there a (significant) relationship between the response and the predictors?</a:t>
            </a:r>
          </a:p>
          <a:p>
            <a:endParaRPr lang="en-US" dirty="0"/>
          </a:p>
          <a:p>
            <a:pPr marL="0" indent="0">
              <a:buNone/>
            </a:pPr>
            <a:r>
              <a:rPr lang="en-US" dirty="0"/>
              <a:t>Which are the important predictors?</a:t>
            </a:r>
          </a:p>
          <a:p>
            <a:endParaRPr lang="en-US" dirty="0"/>
          </a:p>
          <a:p>
            <a:pPr marL="0" indent="0">
              <a:buNone/>
            </a:pPr>
            <a:r>
              <a:rPr lang="en-US" dirty="0"/>
              <a:t>How to assess model fit?</a:t>
            </a:r>
          </a:p>
          <a:p>
            <a:endParaRPr lang="en-US" dirty="0"/>
          </a:p>
          <a:p>
            <a:pPr marL="0" indent="0">
              <a:buNone/>
            </a:pPr>
            <a:r>
              <a:rPr lang="en-US" dirty="0"/>
              <a:t>How to make predictions?</a:t>
            </a:r>
          </a:p>
        </p:txBody>
      </p:sp>
    </p:spTree>
    <p:extLst>
      <p:ext uri="{BB962C8B-B14F-4D97-AF65-F5344CB8AC3E}">
        <p14:creationId xmlns:p14="http://schemas.microsoft.com/office/powerpoint/2010/main" val="3601356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6F142-3E5E-2940-3EFD-A925EE9D5883}"/>
              </a:ext>
            </a:extLst>
          </p:cNvPr>
          <p:cNvSpPr>
            <a:spLocks noGrp="1"/>
          </p:cNvSpPr>
          <p:nvPr>
            <p:ph type="title"/>
          </p:nvPr>
        </p:nvSpPr>
        <p:spPr/>
        <p:txBody>
          <a:bodyPr/>
          <a:lstStyle/>
          <a:p>
            <a:r>
              <a:rPr lang="en-US"/>
              <a:t>Is there a relationship between the response and the predictors?</a:t>
            </a:r>
          </a:p>
        </p:txBody>
      </p:sp>
      <p:sp>
        <p:nvSpPr>
          <p:cNvPr id="3" name="Content Placeholder 2">
            <a:extLst>
              <a:ext uri="{FF2B5EF4-FFF2-40B4-BE49-F238E27FC236}">
                <a16:creationId xmlns:a16="http://schemas.microsoft.com/office/drawing/2014/main" id="{0A7558C7-D0BC-36DC-ADA6-3A65353DD4F4}"/>
              </a:ext>
            </a:extLst>
          </p:cNvPr>
          <p:cNvSpPr>
            <a:spLocks noGrp="1"/>
          </p:cNvSpPr>
          <p:nvPr>
            <p:ph idx="1"/>
          </p:nvPr>
        </p:nvSpPr>
        <p:spPr/>
        <p:txBody>
          <a:bodyPr/>
          <a:lstStyle/>
          <a:p>
            <a:r>
              <a:rPr lang="en-US" dirty="0"/>
              <a:t>We need to reject the null hypothesis that </a:t>
            </a:r>
            <a:r>
              <a:rPr lang="en-US" b="1" dirty="0"/>
              <a:t>*all* </a:t>
            </a:r>
            <a:r>
              <a:rPr lang="en-US" dirty="0"/>
              <a:t>the coefficients are zero</a:t>
            </a:r>
          </a:p>
        </p:txBody>
      </p:sp>
      <p:pic>
        <p:nvPicPr>
          <p:cNvPr id="4" name="Picture 3">
            <a:extLst>
              <a:ext uri="{FF2B5EF4-FFF2-40B4-BE49-F238E27FC236}">
                <a16:creationId xmlns:a16="http://schemas.microsoft.com/office/drawing/2014/main" id="{E6AE5677-C8E0-0479-66C7-620084BB802B}"/>
              </a:ext>
            </a:extLst>
          </p:cNvPr>
          <p:cNvPicPr>
            <a:picLocks noChangeAspect="1"/>
          </p:cNvPicPr>
          <p:nvPr/>
        </p:nvPicPr>
        <p:blipFill>
          <a:blip r:embed="rId2"/>
          <a:stretch>
            <a:fillRect/>
          </a:stretch>
        </p:blipFill>
        <p:spPr>
          <a:xfrm>
            <a:off x="4127500" y="3187700"/>
            <a:ext cx="3937000" cy="482600"/>
          </a:xfrm>
          <a:prstGeom prst="rect">
            <a:avLst/>
          </a:prstGeom>
        </p:spPr>
      </p:pic>
      <p:pic>
        <p:nvPicPr>
          <p:cNvPr id="5" name="Picture 4">
            <a:extLst>
              <a:ext uri="{FF2B5EF4-FFF2-40B4-BE49-F238E27FC236}">
                <a16:creationId xmlns:a16="http://schemas.microsoft.com/office/drawing/2014/main" id="{3F912613-0C1B-94E9-2E14-B65CC248AA2E}"/>
              </a:ext>
            </a:extLst>
          </p:cNvPr>
          <p:cNvPicPr>
            <a:picLocks noChangeAspect="1"/>
          </p:cNvPicPr>
          <p:nvPr/>
        </p:nvPicPr>
        <p:blipFill>
          <a:blip r:embed="rId3"/>
          <a:stretch>
            <a:fillRect/>
          </a:stretch>
        </p:blipFill>
        <p:spPr>
          <a:xfrm>
            <a:off x="3841750" y="4094205"/>
            <a:ext cx="4508500" cy="508000"/>
          </a:xfrm>
          <a:prstGeom prst="rect">
            <a:avLst/>
          </a:prstGeom>
        </p:spPr>
      </p:pic>
    </p:spTree>
    <p:extLst>
      <p:ext uri="{BB962C8B-B14F-4D97-AF65-F5344CB8AC3E}">
        <p14:creationId xmlns:p14="http://schemas.microsoft.com/office/powerpoint/2010/main" val="4795210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A230-8429-1657-3612-76C952BBF0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BF6D28-F7C8-016F-D4D5-C1DD69AC1D1D}"/>
              </a:ext>
            </a:extLst>
          </p:cNvPr>
          <p:cNvSpPr>
            <a:spLocks noGrp="1"/>
          </p:cNvSpPr>
          <p:nvPr>
            <p:ph idx="1"/>
          </p:nvPr>
        </p:nvSpPr>
        <p:spPr/>
        <p:txBody>
          <a:bodyPr/>
          <a:lstStyle/>
          <a:p>
            <a:pPr marL="0" indent="0">
              <a:buNone/>
            </a:pPr>
            <a:r>
              <a:rPr lang="en-US" dirty="0"/>
              <a:t>We use the F statistic</a:t>
            </a:r>
            <a:br>
              <a:rPr lang="en-US" dirty="0"/>
            </a:br>
            <a:br>
              <a:rPr lang="en-US" dirty="0"/>
            </a:br>
            <a:br>
              <a:rPr lang="en-US" dirty="0"/>
            </a:br>
            <a:br>
              <a:rPr lang="en-US" dirty="0"/>
            </a:br>
            <a:br>
              <a:rPr lang="en-US" dirty="0"/>
            </a:br>
            <a:endParaRPr lang="en-US" dirty="0"/>
          </a:p>
          <a:p>
            <a:pPr marL="0" indent="0">
              <a:buNone/>
            </a:pPr>
            <a:r>
              <a:rPr lang="en-US" dirty="0"/>
              <a:t>If H</a:t>
            </a:r>
            <a:r>
              <a:rPr lang="en-US" baseline="-25000" dirty="0"/>
              <a:t>0</a:t>
            </a:r>
            <a:r>
              <a:rPr lang="en-US" dirty="0"/>
              <a:t> is true, we would expect a value of F close to 1</a:t>
            </a:r>
          </a:p>
          <a:p>
            <a:pPr marL="0" indent="0">
              <a:buNone/>
            </a:pPr>
            <a:r>
              <a:rPr lang="en-US" dirty="0"/>
              <a:t>If H</a:t>
            </a:r>
            <a:r>
              <a:rPr lang="en-US" baseline="-25000" dirty="0"/>
              <a:t>a</a:t>
            </a:r>
            <a:r>
              <a:rPr lang="en-US" dirty="0"/>
              <a:t> is true, we expect a value of F greater than 1</a:t>
            </a:r>
          </a:p>
        </p:txBody>
      </p:sp>
      <p:pic>
        <p:nvPicPr>
          <p:cNvPr id="4" name="Picture 3">
            <a:extLst>
              <a:ext uri="{FF2B5EF4-FFF2-40B4-BE49-F238E27FC236}">
                <a16:creationId xmlns:a16="http://schemas.microsoft.com/office/drawing/2014/main" id="{E7911472-8C5D-973C-66BB-52A3FE1975A4}"/>
              </a:ext>
            </a:extLst>
          </p:cNvPr>
          <p:cNvPicPr>
            <a:picLocks noChangeAspect="1"/>
          </p:cNvPicPr>
          <p:nvPr/>
        </p:nvPicPr>
        <p:blipFill>
          <a:blip r:embed="rId2"/>
          <a:stretch>
            <a:fillRect/>
          </a:stretch>
        </p:blipFill>
        <p:spPr>
          <a:xfrm>
            <a:off x="3867484" y="2868863"/>
            <a:ext cx="3302000" cy="863600"/>
          </a:xfrm>
          <a:prstGeom prst="rect">
            <a:avLst/>
          </a:prstGeom>
        </p:spPr>
      </p:pic>
      <p:pic>
        <p:nvPicPr>
          <p:cNvPr id="5" name="Picture 4">
            <a:extLst>
              <a:ext uri="{FF2B5EF4-FFF2-40B4-BE49-F238E27FC236}">
                <a16:creationId xmlns:a16="http://schemas.microsoft.com/office/drawing/2014/main" id="{CECC38BF-12C8-A1F1-2B3B-42A44DCC6B29}"/>
              </a:ext>
            </a:extLst>
          </p:cNvPr>
          <p:cNvPicPr>
            <a:picLocks noChangeAspect="1"/>
          </p:cNvPicPr>
          <p:nvPr/>
        </p:nvPicPr>
        <p:blipFill>
          <a:blip r:embed="rId3"/>
          <a:stretch>
            <a:fillRect/>
          </a:stretch>
        </p:blipFill>
        <p:spPr>
          <a:xfrm>
            <a:off x="3447434" y="5280495"/>
            <a:ext cx="4256622" cy="1451871"/>
          </a:xfrm>
          <a:prstGeom prst="rect">
            <a:avLst/>
          </a:prstGeom>
        </p:spPr>
      </p:pic>
    </p:spTree>
    <p:extLst>
      <p:ext uri="{BB962C8B-B14F-4D97-AF65-F5344CB8AC3E}">
        <p14:creationId xmlns:p14="http://schemas.microsoft.com/office/powerpoint/2010/main" val="40935868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EAA22-EBC4-2B9F-ED82-EA3F40E788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D27B57-4BB9-C25D-156F-2CF40F538EC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629D9C9C-A05D-E04B-0594-D2B1CAFF0ED1}"/>
              </a:ext>
            </a:extLst>
          </p:cNvPr>
          <p:cNvPicPr>
            <a:picLocks noChangeAspect="1"/>
          </p:cNvPicPr>
          <p:nvPr/>
        </p:nvPicPr>
        <p:blipFill>
          <a:blip r:embed="rId2"/>
          <a:stretch>
            <a:fillRect/>
          </a:stretch>
        </p:blipFill>
        <p:spPr>
          <a:xfrm>
            <a:off x="303803" y="2763096"/>
            <a:ext cx="5484519" cy="1325563"/>
          </a:xfrm>
          <a:prstGeom prst="rect">
            <a:avLst/>
          </a:prstGeom>
        </p:spPr>
      </p:pic>
      <p:pic>
        <p:nvPicPr>
          <p:cNvPr id="5" name="Picture 4">
            <a:extLst>
              <a:ext uri="{FF2B5EF4-FFF2-40B4-BE49-F238E27FC236}">
                <a16:creationId xmlns:a16="http://schemas.microsoft.com/office/drawing/2014/main" id="{CD0BFD6A-7317-15ED-1AF7-F652DC29DA88}"/>
              </a:ext>
            </a:extLst>
          </p:cNvPr>
          <p:cNvPicPr>
            <a:picLocks noChangeAspect="1"/>
          </p:cNvPicPr>
          <p:nvPr/>
        </p:nvPicPr>
        <p:blipFill>
          <a:blip r:embed="rId3"/>
          <a:stretch>
            <a:fillRect/>
          </a:stretch>
        </p:blipFill>
        <p:spPr>
          <a:xfrm>
            <a:off x="6096000" y="4500563"/>
            <a:ext cx="4914900" cy="1676400"/>
          </a:xfrm>
          <a:prstGeom prst="rect">
            <a:avLst/>
          </a:prstGeom>
        </p:spPr>
      </p:pic>
    </p:spTree>
    <p:extLst>
      <p:ext uri="{BB962C8B-B14F-4D97-AF65-F5344CB8AC3E}">
        <p14:creationId xmlns:p14="http://schemas.microsoft.com/office/powerpoint/2010/main" val="42093675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E04B1-9BAF-4656-1B4C-90D473CA7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1E365-E0C4-171B-FDCE-5BC4E34AE051}"/>
              </a:ext>
            </a:extLst>
          </p:cNvPr>
          <p:cNvSpPr>
            <a:spLocks noGrp="1"/>
          </p:cNvSpPr>
          <p:nvPr>
            <p:ph type="title"/>
          </p:nvPr>
        </p:nvSpPr>
        <p:spPr/>
        <p:txBody>
          <a:bodyPr/>
          <a:lstStyle/>
          <a:p>
            <a:r>
              <a:rPr lang="en-US"/>
              <a:t>Important questions with multiple regression</a:t>
            </a:r>
          </a:p>
        </p:txBody>
      </p:sp>
      <p:sp>
        <p:nvSpPr>
          <p:cNvPr id="3" name="Content Placeholder 2">
            <a:extLst>
              <a:ext uri="{FF2B5EF4-FFF2-40B4-BE49-F238E27FC236}">
                <a16:creationId xmlns:a16="http://schemas.microsoft.com/office/drawing/2014/main" id="{08DC135D-3668-46B2-2F73-E91BF7270EF5}"/>
              </a:ext>
            </a:extLst>
          </p:cNvPr>
          <p:cNvSpPr>
            <a:spLocks noGrp="1"/>
          </p:cNvSpPr>
          <p:nvPr>
            <p:ph idx="1"/>
          </p:nvPr>
        </p:nvSpPr>
        <p:spPr/>
        <p:txBody>
          <a:bodyPr/>
          <a:lstStyle/>
          <a:p>
            <a:pPr marL="0" indent="0">
              <a:buNone/>
            </a:pPr>
            <a:r>
              <a:rPr lang="en-US" dirty="0"/>
              <a:t>Is there a (significant) relationship between the response and the predictors?</a:t>
            </a:r>
          </a:p>
          <a:p>
            <a:endParaRPr lang="en-US" dirty="0"/>
          </a:p>
          <a:p>
            <a:pPr marL="0" indent="0">
              <a:buNone/>
            </a:pPr>
            <a:r>
              <a:rPr lang="en-US" b="1" dirty="0"/>
              <a:t>Which are the important predictors?</a:t>
            </a:r>
          </a:p>
          <a:p>
            <a:endParaRPr lang="en-US" dirty="0"/>
          </a:p>
          <a:p>
            <a:pPr marL="0" indent="0">
              <a:buNone/>
            </a:pPr>
            <a:r>
              <a:rPr lang="en-US" dirty="0"/>
              <a:t>How to assess model fit?</a:t>
            </a:r>
          </a:p>
          <a:p>
            <a:endParaRPr lang="en-US" dirty="0"/>
          </a:p>
          <a:p>
            <a:pPr marL="0" indent="0">
              <a:buNone/>
            </a:pPr>
            <a:r>
              <a:rPr lang="en-US" dirty="0"/>
              <a:t>How to make predictions?</a:t>
            </a:r>
          </a:p>
        </p:txBody>
      </p:sp>
    </p:spTree>
    <p:extLst>
      <p:ext uri="{BB962C8B-B14F-4D97-AF65-F5344CB8AC3E}">
        <p14:creationId xmlns:p14="http://schemas.microsoft.com/office/powerpoint/2010/main" val="3847152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48A3-1E5E-E83B-F067-053E0D796E5F}"/>
              </a:ext>
            </a:extLst>
          </p:cNvPr>
          <p:cNvSpPr>
            <a:spLocks noGrp="1"/>
          </p:cNvSpPr>
          <p:nvPr>
            <p:ph type="title"/>
          </p:nvPr>
        </p:nvSpPr>
        <p:spPr/>
        <p:txBody>
          <a:bodyPr/>
          <a:lstStyle/>
          <a:p>
            <a:r>
              <a:rPr lang="en-US"/>
              <a:t>Which are the important predictors?</a:t>
            </a:r>
          </a:p>
        </p:txBody>
      </p:sp>
      <p:sp>
        <p:nvSpPr>
          <p:cNvPr id="3" name="Content Placeholder 2">
            <a:extLst>
              <a:ext uri="{FF2B5EF4-FFF2-40B4-BE49-F238E27FC236}">
                <a16:creationId xmlns:a16="http://schemas.microsoft.com/office/drawing/2014/main" id="{619035C8-21A8-50F0-E948-0D436EED391A}"/>
              </a:ext>
            </a:extLst>
          </p:cNvPr>
          <p:cNvSpPr>
            <a:spLocks noGrp="1"/>
          </p:cNvSpPr>
          <p:nvPr>
            <p:ph idx="1"/>
          </p:nvPr>
        </p:nvSpPr>
        <p:spPr/>
        <p:txBody>
          <a:bodyPr/>
          <a:lstStyle/>
          <a:p>
            <a:pPr marL="0" indent="0">
              <a:buNone/>
            </a:pPr>
            <a:r>
              <a:rPr lang="en-US" dirty="0"/>
              <a:t>If we reject H</a:t>
            </a:r>
            <a:r>
              <a:rPr lang="en-US" baseline="-25000" dirty="0"/>
              <a:t>0</a:t>
            </a:r>
            <a:r>
              <a:rPr lang="en-US" dirty="0"/>
              <a:t>, we know that there is a relationship between the response and the predictors</a:t>
            </a:r>
          </a:p>
          <a:p>
            <a:pPr marL="0" indent="0">
              <a:buNone/>
            </a:pPr>
            <a:r>
              <a:rPr lang="en-US" dirty="0"/>
              <a:t>.. but which predictors are (more) important?</a:t>
            </a:r>
          </a:p>
          <a:p>
            <a:endParaRPr lang="en-US" dirty="0"/>
          </a:p>
          <a:p>
            <a:pPr marL="0" indent="0">
              <a:buNone/>
            </a:pPr>
            <a:r>
              <a:rPr lang="en-US" dirty="0"/>
              <a:t>This is the “variable selection” problem</a:t>
            </a:r>
          </a:p>
        </p:txBody>
      </p:sp>
    </p:spTree>
    <p:extLst>
      <p:ext uri="{BB962C8B-B14F-4D97-AF65-F5344CB8AC3E}">
        <p14:creationId xmlns:p14="http://schemas.microsoft.com/office/powerpoint/2010/main" val="27098733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326DE-1DEE-AA7E-DC86-574D2AE920B2}"/>
              </a:ext>
            </a:extLst>
          </p:cNvPr>
          <p:cNvSpPr>
            <a:spLocks noGrp="1"/>
          </p:cNvSpPr>
          <p:nvPr>
            <p:ph type="title"/>
          </p:nvPr>
        </p:nvSpPr>
        <p:spPr/>
        <p:txBody>
          <a:bodyPr/>
          <a:lstStyle/>
          <a:p>
            <a:r>
              <a:rPr lang="en-US"/>
              <a:t>Ideal solution to the variable selection problem</a:t>
            </a:r>
          </a:p>
        </p:txBody>
      </p:sp>
      <p:sp>
        <p:nvSpPr>
          <p:cNvPr id="3" name="Content Placeholder 2">
            <a:extLst>
              <a:ext uri="{FF2B5EF4-FFF2-40B4-BE49-F238E27FC236}">
                <a16:creationId xmlns:a16="http://schemas.microsoft.com/office/drawing/2014/main" id="{20273A79-AEA7-AFF1-BAE5-63EF506C65D5}"/>
              </a:ext>
            </a:extLst>
          </p:cNvPr>
          <p:cNvSpPr>
            <a:spLocks noGrp="1"/>
          </p:cNvSpPr>
          <p:nvPr>
            <p:ph idx="1"/>
          </p:nvPr>
        </p:nvSpPr>
        <p:spPr/>
        <p:txBody>
          <a:bodyPr/>
          <a:lstStyle/>
          <a:p>
            <a:pPr marL="0" indent="0">
              <a:buNone/>
            </a:pPr>
            <a:r>
              <a:rPr lang="en-US" dirty="0"/>
              <a:t>Given the p predictors, we can consider all the possible models including them</a:t>
            </a:r>
          </a:p>
          <a:p>
            <a:pPr lvl="1"/>
            <a:r>
              <a:rPr lang="en-US" dirty="0"/>
              <a:t>P=2, 4 models</a:t>
            </a:r>
          </a:p>
          <a:p>
            <a:pPr lvl="2"/>
            <a:r>
              <a:rPr lang="en-US" dirty="0"/>
              <a:t>No variables (null model)</a:t>
            </a:r>
          </a:p>
          <a:p>
            <a:pPr lvl="2"/>
            <a:r>
              <a:rPr lang="en-US" dirty="0"/>
              <a:t>Only X1</a:t>
            </a:r>
          </a:p>
          <a:p>
            <a:pPr lvl="2"/>
            <a:r>
              <a:rPr lang="en-US" dirty="0"/>
              <a:t>Only X2</a:t>
            </a:r>
          </a:p>
          <a:p>
            <a:pPr lvl="2"/>
            <a:r>
              <a:rPr lang="en-US" dirty="0"/>
              <a:t>X1 and X2</a:t>
            </a:r>
            <a:br>
              <a:rPr lang="en-US" dirty="0"/>
            </a:br>
            <a:endParaRPr lang="en-US" dirty="0"/>
          </a:p>
          <a:p>
            <a:pPr marL="0" indent="0">
              <a:buNone/>
            </a:pPr>
            <a:r>
              <a:rPr lang="en-US" dirty="0"/>
              <a:t>2p models to be considered</a:t>
            </a:r>
          </a:p>
          <a:p>
            <a:pPr lvl="1"/>
            <a:r>
              <a:rPr lang="en-US" dirty="0"/>
              <a:t>P=30, then ~1 billion models!</a:t>
            </a:r>
          </a:p>
        </p:txBody>
      </p:sp>
    </p:spTree>
    <p:extLst>
      <p:ext uri="{BB962C8B-B14F-4D97-AF65-F5344CB8AC3E}">
        <p14:creationId xmlns:p14="http://schemas.microsoft.com/office/powerpoint/2010/main" val="34838416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58DA-8454-AA3E-D697-AA311FA9E6B5}"/>
              </a:ext>
            </a:extLst>
          </p:cNvPr>
          <p:cNvSpPr>
            <a:spLocks noGrp="1"/>
          </p:cNvSpPr>
          <p:nvPr>
            <p:ph type="title"/>
          </p:nvPr>
        </p:nvSpPr>
        <p:spPr/>
        <p:txBody>
          <a:bodyPr/>
          <a:lstStyle/>
          <a:p>
            <a:r>
              <a:rPr lang="en-US"/>
              <a:t>Reasonable solutions to the variable selection problem</a:t>
            </a:r>
          </a:p>
        </p:txBody>
      </p:sp>
      <p:sp>
        <p:nvSpPr>
          <p:cNvPr id="3" name="Content Placeholder 2">
            <a:extLst>
              <a:ext uri="{FF2B5EF4-FFF2-40B4-BE49-F238E27FC236}">
                <a16:creationId xmlns:a16="http://schemas.microsoft.com/office/drawing/2014/main" id="{9E9C5C46-547E-A032-1E84-1DC64F0306A4}"/>
              </a:ext>
            </a:extLst>
          </p:cNvPr>
          <p:cNvSpPr>
            <a:spLocks noGrp="1"/>
          </p:cNvSpPr>
          <p:nvPr>
            <p:ph idx="1"/>
          </p:nvPr>
        </p:nvSpPr>
        <p:spPr/>
        <p:txBody>
          <a:bodyPr/>
          <a:lstStyle/>
          <a:p>
            <a:pPr marL="0" indent="0">
              <a:buNone/>
            </a:pPr>
            <a:r>
              <a:rPr lang="en-US" dirty="0"/>
              <a:t>Forward selection</a:t>
            </a:r>
          </a:p>
          <a:p>
            <a:pPr marL="0" indent="0">
              <a:buNone/>
            </a:pPr>
            <a:r>
              <a:rPr lang="en-US" dirty="0"/>
              <a:t>Backward selection</a:t>
            </a:r>
          </a:p>
          <a:p>
            <a:pPr marL="0" indent="0">
              <a:buNone/>
            </a:pPr>
            <a:r>
              <a:rPr lang="en-US" dirty="0"/>
              <a:t>Mixed selection</a:t>
            </a:r>
          </a:p>
        </p:txBody>
      </p:sp>
    </p:spTree>
    <p:extLst>
      <p:ext uri="{BB962C8B-B14F-4D97-AF65-F5344CB8AC3E}">
        <p14:creationId xmlns:p14="http://schemas.microsoft.com/office/powerpoint/2010/main" val="8158154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1D89C-B8A2-6BFC-1B18-03E9E826DE1B}"/>
              </a:ext>
            </a:extLst>
          </p:cNvPr>
          <p:cNvSpPr>
            <a:spLocks noGrp="1"/>
          </p:cNvSpPr>
          <p:nvPr>
            <p:ph type="title"/>
          </p:nvPr>
        </p:nvSpPr>
        <p:spPr/>
        <p:txBody>
          <a:bodyPr/>
          <a:lstStyle/>
          <a:p>
            <a:r>
              <a:rPr lang="en-US"/>
              <a:t>Forward selection</a:t>
            </a:r>
          </a:p>
        </p:txBody>
      </p:sp>
      <p:sp>
        <p:nvSpPr>
          <p:cNvPr id="3" name="Content Placeholder 2">
            <a:extLst>
              <a:ext uri="{FF2B5EF4-FFF2-40B4-BE49-F238E27FC236}">
                <a16:creationId xmlns:a16="http://schemas.microsoft.com/office/drawing/2014/main" id="{8057A3E6-4DD5-0049-F8DD-A7C69650A1DE}"/>
              </a:ext>
            </a:extLst>
          </p:cNvPr>
          <p:cNvSpPr>
            <a:spLocks noGrp="1"/>
          </p:cNvSpPr>
          <p:nvPr>
            <p:ph idx="1"/>
          </p:nvPr>
        </p:nvSpPr>
        <p:spPr/>
        <p:txBody>
          <a:bodyPr>
            <a:normAutofit lnSpcReduction="10000"/>
          </a:bodyPr>
          <a:lstStyle/>
          <a:p>
            <a:pPr marL="514350" indent="-514350">
              <a:buFont typeface="+mj-lt"/>
              <a:buAutoNum type="arabicPeriod"/>
            </a:pPr>
            <a:r>
              <a:rPr lang="en-US"/>
              <a:t>Start with null model</a:t>
            </a:r>
          </a:p>
          <a:p>
            <a:pPr marL="514350" indent="-514350">
              <a:buFont typeface="+mj-lt"/>
              <a:buAutoNum type="arabicPeriod"/>
            </a:pPr>
            <a:r>
              <a:rPr lang="en-US"/>
              <a:t>Fit p simple linear regressions</a:t>
            </a:r>
          </a:p>
          <a:p>
            <a:pPr marL="514350" indent="-514350">
              <a:buFont typeface="+mj-lt"/>
              <a:buAutoNum type="arabicPeriod"/>
            </a:pPr>
            <a:r>
              <a:rPr lang="en-US"/>
              <a:t>Add to the null model the variable X with lowest RSS</a:t>
            </a:r>
          </a:p>
          <a:p>
            <a:pPr marL="514350" indent="-514350">
              <a:buFont typeface="+mj-lt"/>
              <a:buAutoNum type="arabicPeriod"/>
            </a:pPr>
            <a:r>
              <a:rPr lang="en-US"/>
              <a:t>Fit p-1 2-variable linear regressions</a:t>
            </a:r>
          </a:p>
          <a:p>
            <a:pPr marL="514350" indent="-514350">
              <a:buFont typeface="+mj-lt"/>
              <a:buAutoNum type="arabicPeriod"/>
            </a:pPr>
            <a:r>
              <a:rPr lang="en-US"/>
              <a:t>Add the variable X with lowest RSS</a:t>
            </a:r>
          </a:p>
          <a:p>
            <a:pPr marL="514350" indent="-514350">
              <a:buFont typeface="+mj-lt"/>
              <a:buAutoNum type="arabicPeriod"/>
            </a:pPr>
            <a:r>
              <a:rPr lang="en-US"/>
              <a:t>… (iterate 4,5 until a terminating condition is met)</a:t>
            </a:r>
          </a:p>
          <a:p>
            <a:pPr marL="514350" indent="-514350">
              <a:buFont typeface="+mj-lt"/>
              <a:buAutoNum type="arabicPeriod"/>
            </a:pPr>
            <a:endParaRPr lang="en-US"/>
          </a:p>
          <a:p>
            <a:pPr marL="0" indent="0">
              <a:buNone/>
            </a:pPr>
            <a:r>
              <a:rPr lang="en-US"/>
              <a:t>Terminating condition: RSS low enough, target number of variables reached, …</a:t>
            </a:r>
          </a:p>
        </p:txBody>
      </p:sp>
    </p:spTree>
    <p:extLst>
      <p:ext uri="{BB962C8B-B14F-4D97-AF65-F5344CB8AC3E}">
        <p14:creationId xmlns:p14="http://schemas.microsoft.com/office/powerpoint/2010/main" val="9071150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8C03E-09EE-B4A5-0DDA-F99F3214C936}"/>
              </a:ext>
            </a:extLst>
          </p:cNvPr>
          <p:cNvSpPr>
            <a:spLocks noGrp="1"/>
          </p:cNvSpPr>
          <p:nvPr>
            <p:ph type="title"/>
          </p:nvPr>
        </p:nvSpPr>
        <p:spPr/>
        <p:txBody>
          <a:bodyPr/>
          <a:lstStyle/>
          <a:p>
            <a:r>
              <a:rPr lang="en-US"/>
              <a:t>Backward selection</a:t>
            </a:r>
          </a:p>
        </p:txBody>
      </p:sp>
      <p:sp>
        <p:nvSpPr>
          <p:cNvPr id="3" name="Content Placeholder 2">
            <a:extLst>
              <a:ext uri="{FF2B5EF4-FFF2-40B4-BE49-F238E27FC236}">
                <a16:creationId xmlns:a16="http://schemas.microsoft.com/office/drawing/2014/main" id="{914724F8-C72C-A0BA-EEEF-5A24D92A469A}"/>
              </a:ext>
            </a:extLst>
          </p:cNvPr>
          <p:cNvSpPr>
            <a:spLocks noGrp="1"/>
          </p:cNvSpPr>
          <p:nvPr>
            <p:ph idx="1"/>
          </p:nvPr>
        </p:nvSpPr>
        <p:spPr/>
        <p:txBody>
          <a:bodyPr/>
          <a:lstStyle/>
          <a:p>
            <a:pPr marL="514350" indent="-514350">
              <a:buFont typeface="+mj-lt"/>
              <a:buAutoNum type="arabicPeriod"/>
            </a:pPr>
            <a:r>
              <a:rPr lang="en-US"/>
              <a:t>Start with all variables in the model</a:t>
            </a:r>
          </a:p>
          <a:p>
            <a:pPr marL="514350" indent="-514350">
              <a:buFont typeface="+mj-lt"/>
              <a:buAutoNum type="arabicPeriod"/>
            </a:pPr>
            <a:r>
              <a:rPr lang="en-US"/>
              <a:t>Remove the variable with largest p-value (the least statistically significant)</a:t>
            </a:r>
          </a:p>
          <a:p>
            <a:pPr marL="514350" indent="-514350">
              <a:buFont typeface="+mj-lt"/>
              <a:buAutoNum type="arabicPeriod"/>
            </a:pPr>
            <a:r>
              <a:rPr lang="en-US"/>
              <a:t>Fit the (p-1)-variable model</a:t>
            </a:r>
          </a:p>
          <a:p>
            <a:pPr marL="514350" indent="-514350">
              <a:buFont typeface="+mj-lt"/>
              <a:buAutoNum type="arabicPeriod"/>
            </a:pPr>
            <a:r>
              <a:rPr lang="en-US"/>
              <a:t>Iterate (2,3) until a terminating condition is met</a:t>
            </a:r>
          </a:p>
          <a:p>
            <a:pPr marL="514350" indent="-514350">
              <a:buFont typeface="+mj-lt"/>
              <a:buAutoNum type="arabicPeriod"/>
            </a:pPr>
            <a:endParaRPr lang="en-US"/>
          </a:p>
          <a:p>
            <a:pPr marL="0" indent="0">
              <a:buNone/>
            </a:pPr>
            <a:r>
              <a:rPr lang="en-US"/>
              <a:t>Terminating condition: all variables in the model have a p-value below some threshold, target number of variables reached</a:t>
            </a:r>
          </a:p>
        </p:txBody>
      </p:sp>
    </p:spTree>
    <p:extLst>
      <p:ext uri="{BB962C8B-B14F-4D97-AF65-F5344CB8AC3E}">
        <p14:creationId xmlns:p14="http://schemas.microsoft.com/office/powerpoint/2010/main" val="30002880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8FAE8-AFE7-5395-CE65-A5272C7B996E}"/>
              </a:ext>
            </a:extLst>
          </p:cNvPr>
          <p:cNvSpPr>
            <a:spLocks noGrp="1"/>
          </p:cNvSpPr>
          <p:nvPr>
            <p:ph type="title"/>
          </p:nvPr>
        </p:nvSpPr>
        <p:spPr/>
        <p:txBody>
          <a:bodyPr/>
          <a:lstStyle/>
          <a:p>
            <a:r>
              <a:rPr lang="en-US"/>
              <a:t>Mixed selection</a:t>
            </a:r>
          </a:p>
        </p:txBody>
      </p:sp>
      <p:sp>
        <p:nvSpPr>
          <p:cNvPr id="3" name="Content Placeholder 2">
            <a:extLst>
              <a:ext uri="{FF2B5EF4-FFF2-40B4-BE49-F238E27FC236}">
                <a16:creationId xmlns:a16="http://schemas.microsoft.com/office/drawing/2014/main" id="{67F00DB4-4CE0-7EA0-5CED-3CBE00174E56}"/>
              </a:ext>
            </a:extLst>
          </p:cNvPr>
          <p:cNvSpPr>
            <a:spLocks noGrp="1"/>
          </p:cNvSpPr>
          <p:nvPr>
            <p:ph idx="1"/>
          </p:nvPr>
        </p:nvSpPr>
        <p:spPr/>
        <p:txBody>
          <a:bodyPr/>
          <a:lstStyle/>
          <a:p>
            <a:r>
              <a:rPr lang="en-US"/>
              <a:t>Combine forward and backward</a:t>
            </a:r>
          </a:p>
        </p:txBody>
      </p:sp>
    </p:spTree>
    <p:extLst>
      <p:ext uri="{BB962C8B-B14F-4D97-AF65-F5344CB8AC3E}">
        <p14:creationId xmlns:p14="http://schemas.microsoft.com/office/powerpoint/2010/main" val="38644385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384E8-79ED-F051-5002-21B546EA6633}"/>
              </a:ext>
            </a:extLst>
          </p:cNvPr>
          <p:cNvSpPr>
            <a:spLocks noGrp="1"/>
          </p:cNvSpPr>
          <p:nvPr>
            <p:ph type="title"/>
          </p:nvPr>
        </p:nvSpPr>
        <p:spPr/>
        <p:txBody>
          <a:bodyPr/>
          <a:lstStyle/>
          <a:p>
            <a:r>
              <a:rPr lang="en-US"/>
              <a:t>Important questions with multiple regression</a:t>
            </a:r>
          </a:p>
        </p:txBody>
      </p:sp>
      <p:sp>
        <p:nvSpPr>
          <p:cNvPr id="3" name="Content Placeholder 2">
            <a:extLst>
              <a:ext uri="{FF2B5EF4-FFF2-40B4-BE49-F238E27FC236}">
                <a16:creationId xmlns:a16="http://schemas.microsoft.com/office/drawing/2014/main" id="{A3650F0F-2A52-C743-AA43-A0DEB91295D7}"/>
              </a:ext>
            </a:extLst>
          </p:cNvPr>
          <p:cNvSpPr>
            <a:spLocks noGrp="1"/>
          </p:cNvSpPr>
          <p:nvPr>
            <p:ph idx="1"/>
          </p:nvPr>
        </p:nvSpPr>
        <p:spPr/>
        <p:txBody>
          <a:bodyPr/>
          <a:lstStyle/>
          <a:p>
            <a:r>
              <a:rPr lang="en-US"/>
              <a:t>Is there a (significant) relationship between the response and the predictors?</a:t>
            </a:r>
          </a:p>
          <a:p>
            <a:endParaRPr lang="en-US"/>
          </a:p>
          <a:p>
            <a:r>
              <a:rPr lang="en-US"/>
              <a:t>Which are the important predictors?</a:t>
            </a:r>
          </a:p>
          <a:p>
            <a:endParaRPr lang="en-US"/>
          </a:p>
          <a:p>
            <a:r>
              <a:rPr lang="en-US" b="1"/>
              <a:t>How to assess model fit?</a:t>
            </a:r>
          </a:p>
          <a:p>
            <a:endParaRPr lang="en-US"/>
          </a:p>
          <a:p>
            <a:r>
              <a:rPr lang="en-US"/>
              <a:t>How to make predictions?</a:t>
            </a:r>
          </a:p>
        </p:txBody>
      </p:sp>
    </p:spTree>
    <p:extLst>
      <p:ext uri="{BB962C8B-B14F-4D97-AF65-F5344CB8AC3E}">
        <p14:creationId xmlns:p14="http://schemas.microsoft.com/office/powerpoint/2010/main" val="5530621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384E8-79ED-F051-5002-21B546EA6633}"/>
              </a:ext>
            </a:extLst>
          </p:cNvPr>
          <p:cNvSpPr>
            <a:spLocks noGrp="1"/>
          </p:cNvSpPr>
          <p:nvPr>
            <p:ph type="title"/>
          </p:nvPr>
        </p:nvSpPr>
        <p:spPr/>
        <p:txBody>
          <a:bodyPr/>
          <a:lstStyle/>
          <a:p>
            <a:r>
              <a:rPr lang="en-US"/>
              <a:t>Important questions with multiple regression</a:t>
            </a:r>
          </a:p>
        </p:txBody>
      </p:sp>
      <p:sp>
        <p:nvSpPr>
          <p:cNvPr id="3" name="Content Placeholder 2">
            <a:extLst>
              <a:ext uri="{FF2B5EF4-FFF2-40B4-BE49-F238E27FC236}">
                <a16:creationId xmlns:a16="http://schemas.microsoft.com/office/drawing/2014/main" id="{A3650F0F-2A52-C743-AA43-A0DEB91295D7}"/>
              </a:ext>
            </a:extLst>
          </p:cNvPr>
          <p:cNvSpPr>
            <a:spLocks noGrp="1"/>
          </p:cNvSpPr>
          <p:nvPr>
            <p:ph idx="1"/>
          </p:nvPr>
        </p:nvSpPr>
        <p:spPr/>
        <p:txBody>
          <a:bodyPr/>
          <a:lstStyle/>
          <a:p>
            <a:r>
              <a:rPr lang="en-US"/>
              <a:t>Is there a (significant) relationship between the response and the predictors?</a:t>
            </a:r>
          </a:p>
          <a:p>
            <a:endParaRPr lang="en-US"/>
          </a:p>
          <a:p>
            <a:r>
              <a:rPr lang="en-US"/>
              <a:t>Which are the important predictors?</a:t>
            </a:r>
          </a:p>
          <a:p>
            <a:endParaRPr lang="en-US"/>
          </a:p>
          <a:p>
            <a:r>
              <a:rPr lang="en-US"/>
              <a:t>How to assess model fit?</a:t>
            </a:r>
          </a:p>
          <a:p>
            <a:endParaRPr lang="en-US"/>
          </a:p>
          <a:p>
            <a:r>
              <a:rPr lang="en-US" b="1"/>
              <a:t>How to make predictions?</a:t>
            </a:r>
          </a:p>
        </p:txBody>
      </p:sp>
    </p:spTree>
    <p:extLst>
      <p:ext uri="{BB962C8B-B14F-4D97-AF65-F5344CB8AC3E}">
        <p14:creationId xmlns:p14="http://schemas.microsoft.com/office/powerpoint/2010/main" val="31196056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051FD-B7CD-2D72-C328-644766247709}"/>
              </a:ext>
            </a:extLst>
          </p:cNvPr>
          <p:cNvSpPr>
            <a:spLocks noGrp="1"/>
          </p:cNvSpPr>
          <p:nvPr>
            <p:ph type="title"/>
          </p:nvPr>
        </p:nvSpPr>
        <p:spPr/>
        <p:txBody>
          <a:bodyPr/>
          <a:lstStyle/>
          <a:p>
            <a:r>
              <a:rPr lang="en-US"/>
              <a:t>Final considerations on regression models</a:t>
            </a:r>
          </a:p>
        </p:txBody>
      </p:sp>
      <p:sp>
        <p:nvSpPr>
          <p:cNvPr id="3" name="Content Placeholder 2">
            <a:extLst>
              <a:ext uri="{FF2B5EF4-FFF2-40B4-BE49-F238E27FC236}">
                <a16:creationId xmlns:a16="http://schemas.microsoft.com/office/drawing/2014/main" id="{0020902E-1BFB-BBEF-203B-C2DFFBAB58D4}"/>
              </a:ext>
            </a:extLst>
          </p:cNvPr>
          <p:cNvSpPr>
            <a:spLocks noGrp="1"/>
          </p:cNvSpPr>
          <p:nvPr>
            <p:ph idx="1"/>
          </p:nvPr>
        </p:nvSpPr>
        <p:spPr/>
        <p:txBody>
          <a:bodyPr/>
          <a:lstStyle/>
          <a:p>
            <a:r>
              <a:rPr lang="en-US" dirty="0"/>
              <a:t>Qualitative predictors</a:t>
            </a:r>
          </a:p>
          <a:p>
            <a:r>
              <a:rPr lang="en-US" dirty="0"/>
              <a:t>Extensions</a:t>
            </a:r>
          </a:p>
          <a:p>
            <a:pPr lvl="1"/>
            <a:r>
              <a:rPr lang="en-US" dirty="0"/>
              <a:t>Removing additive assumptions</a:t>
            </a:r>
          </a:p>
          <a:p>
            <a:pPr lvl="1"/>
            <a:r>
              <a:rPr lang="en-US" dirty="0"/>
              <a:t>Non-linear relations</a:t>
            </a:r>
          </a:p>
          <a:p>
            <a:r>
              <a:rPr lang="en-US" dirty="0"/>
              <a:t>Potential problems of regression models</a:t>
            </a:r>
          </a:p>
        </p:txBody>
      </p:sp>
    </p:spTree>
    <p:extLst>
      <p:ext uri="{BB962C8B-B14F-4D97-AF65-F5344CB8AC3E}">
        <p14:creationId xmlns:p14="http://schemas.microsoft.com/office/powerpoint/2010/main" val="41001965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051FD-B7CD-2D72-C328-644766247709}"/>
              </a:ext>
            </a:extLst>
          </p:cNvPr>
          <p:cNvSpPr>
            <a:spLocks noGrp="1"/>
          </p:cNvSpPr>
          <p:nvPr>
            <p:ph type="title"/>
          </p:nvPr>
        </p:nvSpPr>
        <p:spPr/>
        <p:txBody>
          <a:bodyPr/>
          <a:lstStyle/>
          <a:p>
            <a:r>
              <a:rPr lang="en-US"/>
              <a:t>Final considerations on regression models</a:t>
            </a:r>
          </a:p>
        </p:txBody>
      </p:sp>
      <p:sp>
        <p:nvSpPr>
          <p:cNvPr id="3" name="Content Placeholder 2">
            <a:extLst>
              <a:ext uri="{FF2B5EF4-FFF2-40B4-BE49-F238E27FC236}">
                <a16:creationId xmlns:a16="http://schemas.microsoft.com/office/drawing/2014/main" id="{0020902E-1BFB-BBEF-203B-C2DFFBAB58D4}"/>
              </a:ext>
            </a:extLst>
          </p:cNvPr>
          <p:cNvSpPr>
            <a:spLocks noGrp="1"/>
          </p:cNvSpPr>
          <p:nvPr>
            <p:ph idx="1"/>
          </p:nvPr>
        </p:nvSpPr>
        <p:spPr/>
        <p:txBody>
          <a:bodyPr/>
          <a:lstStyle/>
          <a:p>
            <a:r>
              <a:rPr lang="en-US" b="1"/>
              <a:t>Qualitative predictors</a:t>
            </a:r>
          </a:p>
          <a:p>
            <a:r>
              <a:rPr lang="en-US"/>
              <a:t>Extensions</a:t>
            </a:r>
          </a:p>
          <a:p>
            <a:pPr lvl="1"/>
            <a:r>
              <a:rPr lang="en-US"/>
              <a:t>Removing additive assumptions</a:t>
            </a:r>
          </a:p>
          <a:p>
            <a:pPr lvl="1"/>
            <a:r>
              <a:rPr lang="en-US"/>
              <a:t>Non-linear relations</a:t>
            </a:r>
          </a:p>
          <a:p>
            <a:r>
              <a:rPr lang="en-US"/>
              <a:t>Potential problems of regression models</a:t>
            </a:r>
          </a:p>
        </p:txBody>
      </p:sp>
    </p:spTree>
    <p:extLst>
      <p:ext uri="{BB962C8B-B14F-4D97-AF65-F5344CB8AC3E}">
        <p14:creationId xmlns:p14="http://schemas.microsoft.com/office/powerpoint/2010/main" val="21497265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C5F90-A2EE-F1E0-36DF-D1A83325DDA8}"/>
              </a:ext>
            </a:extLst>
          </p:cNvPr>
          <p:cNvSpPr>
            <a:spLocks noGrp="1"/>
          </p:cNvSpPr>
          <p:nvPr>
            <p:ph type="title"/>
          </p:nvPr>
        </p:nvSpPr>
        <p:spPr/>
        <p:txBody>
          <a:bodyPr/>
          <a:lstStyle/>
          <a:p>
            <a:r>
              <a:rPr lang="en-US"/>
              <a:t>Predictors with 2 levels</a:t>
            </a:r>
          </a:p>
        </p:txBody>
      </p:sp>
      <p:sp>
        <p:nvSpPr>
          <p:cNvPr id="3" name="Content Placeholder 2">
            <a:extLst>
              <a:ext uri="{FF2B5EF4-FFF2-40B4-BE49-F238E27FC236}">
                <a16:creationId xmlns:a16="http://schemas.microsoft.com/office/drawing/2014/main" id="{B6C8E8C6-C076-83C8-A27E-468F0DAF3E69}"/>
              </a:ext>
            </a:extLst>
          </p:cNvPr>
          <p:cNvSpPr>
            <a:spLocks noGrp="1"/>
          </p:cNvSpPr>
          <p:nvPr>
            <p:ph idx="1"/>
          </p:nvPr>
        </p:nvSpPr>
        <p:spPr/>
        <p:txBody>
          <a:bodyPr/>
          <a:lstStyle/>
          <a:p>
            <a:r>
              <a:rPr lang="en-US"/>
              <a:t>If a predictor (or “factor”) has 2 levels, we can incorporate it using a so-called dummy variable</a:t>
            </a:r>
          </a:p>
          <a:p>
            <a:r>
              <a:rPr lang="en-US"/>
              <a:t>Example: predict the average bank account balance based on whether (or not) one owns a house:</a:t>
            </a:r>
          </a:p>
        </p:txBody>
      </p:sp>
      <p:pic>
        <p:nvPicPr>
          <p:cNvPr id="4" name="Picture 3">
            <a:extLst>
              <a:ext uri="{FF2B5EF4-FFF2-40B4-BE49-F238E27FC236}">
                <a16:creationId xmlns:a16="http://schemas.microsoft.com/office/drawing/2014/main" id="{07370C66-61DC-134F-F6E8-E5370A30344B}"/>
              </a:ext>
            </a:extLst>
          </p:cNvPr>
          <p:cNvPicPr>
            <a:picLocks noChangeAspect="1"/>
          </p:cNvPicPr>
          <p:nvPr/>
        </p:nvPicPr>
        <p:blipFill>
          <a:blip r:embed="rId2"/>
          <a:stretch>
            <a:fillRect/>
          </a:stretch>
        </p:blipFill>
        <p:spPr>
          <a:xfrm>
            <a:off x="2604836" y="3682332"/>
            <a:ext cx="6629400" cy="1193800"/>
          </a:xfrm>
          <a:prstGeom prst="rect">
            <a:avLst/>
          </a:prstGeom>
        </p:spPr>
      </p:pic>
      <p:pic>
        <p:nvPicPr>
          <p:cNvPr id="5" name="Picture 4">
            <a:extLst>
              <a:ext uri="{FF2B5EF4-FFF2-40B4-BE49-F238E27FC236}">
                <a16:creationId xmlns:a16="http://schemas.microsoft.com/office/drawing/2014/main" id="{35AE2E98-C3B5-9D60-9583-347EE84D6DFF}"/>
              </a:ext>
            </a:extLst>
          </p:cNvPr>
          <p:cNvPicPr>
            <a:picLocks noChangeAspect="1"/>
          </p:cNvPicPr>
          <p:nvPr/>
        </p:nvPicPr>
        <p:blipFill>
          <a:blip r:embed="rId3"/>
          <a:stretch>
            <a:fillRect/>
          </a:stretch>
        </p:blipFill>
        <p:spPr>
          <a:xfrm>
            <a:off x="2209800" y="5322686"/>
            <a:ext cx="7772400" cy="989214"/>
          </a:xfrm>
          <a:prstGeom prst="rect">
            <a:avLst/>
          </a:prstGeom>
        </p:spPr>
      </p:pic>
    </p:spTree>
    <p:extLst>
      <p:ext uri="{BB962C8B-B14F-4D97-AF65-F5344CB8AC3E}">
        <p14:creationId xmlns:p14="http://schemas.microsoft.com/office/powerpoint/2010/main" val="33797947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4DAAA-6F23-75BD-3659-0C1BA9CB1B8F}"/>
              </a:ext>
            </a:extLst>
          </p:cNvPr>
          <p:cNvSpPr>
            <a:spLocks noGrp="1"/>
          </p:cNvSpPr>
          <p:nvPr>
            <p:ph type="title"/>
          </p:nvPr>
        </p:nvSpPr>
        <p:spPr/>
        <p:txBody>
          <a:bodyPr/>
          <a:lstStyle/>
          <a:p>
            <a:r>
              <a:rPr lang="en-US"/>
              <a:t>How to code the dummy variable?</a:t>
            </a:r>
          </a:p>
        </p:txBody>
      </p:sp>
      <p:sp>
        <p:nvSpPr>
          <p:cNvPr id="3" name="Content Placeholder 2">
            <a:extLst>
              <a:ext uri="{FF2B5EF4-FFF2-40B4-BE49-F238E27FC236}">
                <a16:creationId xmlns:a16="http://schemas.microsoft.com/office/drawing/2014/main" id="{0A0398F9-7665-2631-671A-75DE82357729}"/>
              </a:ext>
            </a:extLst>
          </p:cNvPr>
          <p:cNvSpPr>
            <a:spLocks noGrp="1"/>
          </p:cNvSpPr>
          <p:nvPr>
            <p:ph idx="1"/>
          </p:nvPr>
        </p:nvSpPr>
        <p:spPr>
          <a:xfrm>
            <a:off x="838200" y="1825625"/>
            <a:ext cx="10515600" cy="1190291"/>
          </a:xfrm>
        </p:spPr>
        <p:txBody>
          <a:bodyPr>
            <a:normAutofit fontScale="92500" lnSpcReduction="10000"/>
          </a:bodyPr>
          <a:lstStyle/>
          <a:p>
            <a:r>
              <a:rPr lang="en-US"/>
              <a:t>The numerical values assigned to the dummy variables have no effect on the regression model fit</a:t>
            </a:r>
          </a:p>
          <a:p>
            <a:r>
              <a:rPr lang="en-US"/>
              <a:t>They do impact the interpretation of the coefficients!</a:t>
            </a:r>
          </a:p>
        </p:txBody>
      </p:sp>
      <p:pic>
        <p:nvPicPr>
          <p:cNvPr id="4" name="Picture 3">
            <a:extLst>
              <a:ext uri="{FF2B5EF4-FFF2-40B4-BE49-F238E27FC236}">
                <a16:creationId xmlns:a16="http://schemas.microsoft.com/office/drawing/2014/main" id="{B73A5060-89D1-5A56-15FF-636F71C91E95}"/>
              </a:ext>
            </a:extLst>
          </p:cNvPr>
          <p:cNvPicPr>
            <a:picLocks noChangeAspect="1"/>
          </p:cNvPicPr>
          <p:nvPr/>
        </p:nvPicPr>
        <p:blipFill>
          <a:blip r:embed="rId3"/>
          <a:stretch>
            <a:fillRect/>
          </a:stretch>
        </p:blipFill>
        <p:spPr>
          <a:xfrm>
            <a:off x="842924" y="5046622"/>
            <a:ext cx="5036824" cy="641050"/>
          </a:xfrm>
          <a:prstGeom prst="rect">
            <a:avLst/>
          </a:prstGeom>
        </p:spPr>
      </p:pic>
      <p:pic>
        <p:nvPicPr>
          <p:cNvPr id="5" name="Picture 4">
            <a:extLst>
              <a:ext uri="{FF2B5EF4-FFF2-40B4-BE49-F238E27FC236}">
                <a16:creationId xmlns:a16="http://schemas.microsoft.com/office/drawing/2014/main" id="{3A559384-7DB3-0F53-B3A8-447B240A4F40}"/>
              </a:ext>
            </a:extLst>
          </p:cNvPr>
          <p:cNvPicPr>
            <a:picLocks noChangeAspect="1"/>
          </p:cNvPicPr>
          <p:nvPr/>
        </p:nvPicPr>
        <p:blipFill>
          <a:blip r:embed="rId4"/>
          <a:stretch>
            <a:fillRect/>
          </a:stretch>
        </p:blipFill>
        <p:spPr>
          <a:xfrm>
            <a:off x="621001" y="4051594"/>
            <a:ext cx="5154157" cy="928143"/>
          </a:xfrm>
          <a:prstGeom prst="rect">
            <a:avLst/>
          </a:prstGeom>
        </p:spPr>
      </p:pic>
      <p:pic>
        <p:nvPicPr>
          <p:cNvPr id="6" name="Picture 5">
            <a:extLst>
              <a:ext uri="{FF2B5EF4-FFF2-40B4-BE49-F238E27FC236}">
                <a16:creationId xmlns:a16="http://schemas.microsoft.com/office/drawing/2014/main" id="{E0A2739F-8ADF-951C-277B-CFC664A8E4B6}"/>
              </a:ext>
            </a:extLst>
          </p:cNvPr>
          <p:cNvPicPr>
            <a:picLocks noChangeAspect="1"/>
          </p:cNvPicPr>
          <p:nvPr/>
        </p:nvPicPr>
        <p:blipFill>
          <a:blip r:embed="rId5"/>
          <a:stretch>
            <a:fillRect/>
          </a:stretch>
        </p:blipFill>
        <p:spPr>
          <a:xfrm>
            <a:off x="6600696" y="4051594"/>
            <a:ext cx="4753104" cy="784753"/>
          </a:xfrm>
          <a:prstGeom prst="rect">
            <a:avLst/>
          </a:prstGeom>
        </p:spPr>
      </p:pic>
      <p:pic>
        <p:nvPicPr>
          <p:cNvPr id="7" name="Picture 6">
            <a:extLst>
              <a:ext uri="{FF2B5EF4-FFF2-40B4-BE49-F238E27FC236}">
                <a16:creationId xmlns:a16="http://schemas.microsoft.com/office/drawing/2014/main" id="{0D3ED1CD-8C65-5BCD-9398-E866253814EC}"/>
              </a:ext>
            </a:extLst>
          </p:cNvPr>
          <p:cNvPicPr>
            <a:picLocks noChangeAspect="1"/>
          </p:cNvPicPr>
          <p:nvPr/>
        </p:nvPicPr>
        <p:blipFill>
          <a:blip r:embed="rId6"/>
          <a:stretch>
            <a:fillRect/>
          </a:stretch>
        </p:blipFill>
        <p:spPr>
          <a:xfrm>
            <a:off x="6312253" y="4979737"/>
            <a:ext cx="5329989" cy="563553"/>
          </a:xfrm>
          <a:prstGeom prst="rect">
            <a:avLst/>
          </a:prstGeom>
        </p:spPr>
      </p:pic>
      <p:sp>
        <p:nvSpPr>
          <p:cNvPr id="8" name="TextBox 7">
            <a:extLst>
              <a:ext uri="{FF2B5EF4-FFF2-40B4-BE49-F238E27FC236}">
                <a16:creationId xmlns:a16="http://schemas.microsoft.com/office/drawing/2014/main" id="{6D7E0DB1-85AA-5EAE-3178-94B24DB3C804}"/>
              </a:ext>
            </a:extLst>
          </p:cNvPr>
          <p:cNvSpPr txBox="1"/>
          <p:nvPr/>
        </p:nvSpPr>
        <p:spPr>
          <a:xfrm>
            <a:off x="4523874" y="6208295"/>
            <a:ext cx="4806829" cy="369332"/>
          </a:xfrm>
          <a:prstGeom prst="rect">
            <a:avLst/>
          </a:prstGeom>
          <a:noFill/>
        </p:spPr>
        <p:txBody>
          <a:bodyPr wrap="none" rtlCol="0">
            <a:spAutoFit/>
          </a:bodyPr>
          <a:lstStyle/>
          <a:p>
            <a:r>
              <a:rPr lang="en-US" dirty="0"/>
              <a:t>What do β</a:t>
            </a:r>
            <a:r>
              <a:rPr lang="en-US" baseline="-25000" dirty="0"/>
              <a:t>0</a:t>
            </a:r>
            <a:r>
              <a:rPr lang="en-US" dirty="0"/>
              <a:t> and β</a:t>
            </a:r>
            <a:r>
              <a:rPr lang="en-US" baseline="-25000" dirty="0"/>
              <a:t>1</a:t>
            </a:r>
            <a:r>
              <a:rPr lang="en-US" dirty="0"/>
              <a:t> mean in these two models?</a:t>
            </a:r>
          </a:p>
        </p:txBody>
      </p:sp>
    </p:spTree>
    <p:extLst>
      <p:ext uri="{BB962C8B-B14F-4D97-AF65-F5344CB8AC3E}">
        <p14:creationId xmlns:p14="http://schemas.microsoft.com/office/powerpoint/2010/main" val="5580740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43226-EE22-2D6C-132F-1BC5ADFEC315}"/>
              </a:ext>
            </a:extLst>
          </p:cNvPr>
          <p:cNvSpPr>
            <a:spLocks noGrp="1"/>
          </p:cNvSpPr>
          <p:nvPr>
            <p:ph type="title"/>
          </p:nvPr>
        </p:nvSpPr>
        <p:spPr/>
        <p:txBody>
          <a:bodyPr/>
          <a:lstStyle/>
          <a:p>
            <a:r>
              <a:rPr lang="en-US"/>
              <a:t>Predictors with 2+ levels</a:t>
            </a:r>
          </a:p>
        </p:txBody>
      </p:sp>
      <p:sp>
        <p:nvSpPr>
          <p:cNvPr id="3" name="Content Placeholder 2">
            <a:extLst>
              <a:ext uri="{FF2B5EF4-FFF2-40B4-BE49-F238E27FC236}">
                <a16:creationId xmlns:a16="http://schemas.microsoft.com/office/drawing/2014/main" id="{A2DCE7EA-671F-5D8C-221A-67DD481ED4F5}"/>
              </a:ext>
            </a:extLst>
          </p:cNvPr>
          <p:cNvSpPr>
            <a:spLocks noGrp="1"/>
          </p:cNvSpPr>
          <p:nvPr>
            <p:ph idx="1"/>
          </p:nvPr>
        </p:nvSpPr>
        <p:spPr/>
        <p:txBody>
          <a:bodyPr/>
          <a:lstStyle/>
          <a:p>
            <a:r>
              <a:rPr lang="en-US"/>
              <a:t>We can create additional dummy variables</a:t>
            </a:r>
          </a:p>
          <a:p>
            <a:r>
              <a:rPr lang="en-US"/>
              <a:t>Example: a person can be from the South, West or East (3 levels)</a:t>
            </a:r>
          </a:p>
        </p:txBody>
      </p:sp>
      <p:pic>
        <p:nvPicPr>
          <p:cNvPr id="4" name="Picture 3">
            <a:extLst>
              <a:ext uri="{FF2B5EF4-FFF2-40B4-BE49-F238E27FC236}">
                <a16:creationId xmlns:a16="http://schemas.microsoft.com/office/drawing/2014/main" id="{569A734B-FE69-12B1-80D5-95C3E66DBBF0}"/>
              </a:ext>
            </a:extLst>
          </p:cNvPr>
          <p:cNvPicPr>
            <a:picLocks noChangeAspect="1"/>
          </p:cNvPicPr>
          <p:nvPr/>
        </p:nvPicPr>
        <p:blipFill>
          <a:blip r:embed="rId2"/>
          <a:stretch>
            <a:fillRect/>
          </a:stretch>
        </p:blipFill>
        <p:spPr>
          <a:xfrm>
            <a:off x="838200" y="3121589"/>
            <a:ext cx="4153990" cy="614822"/>
          </a:xfrm>
          <a:prstGeom prst="rect">
            <a:avLst/>
          </a:prstGeom>
        </p:spPr>
      </p:pic>
      <p:pic>
        <p:nvPicPr>
          <p:cNvPr id="5" name="Picture 4">
            <a:extLst>
              <a:ext uri="{FF2B5EF4-FFF2-40B4-BE49-F238E27FC236}">
                <a16:creationId xmlns:a16="http://schemas.microsoft.com/office/drawing/2014/main" id="{512EC248-805C-9C20-5E76-D045A2BC6EF9}"/>
              </a:ext>
            </a:extLst>
          </p:cNvPr>
          <p:cNvPicPr>
            <a:picLocks noChangeAspect="1"/>
          </p:cNvPicPr>
          <p:nvPr/>
        </p:nvPicPr>
        <p:blipFill>
          <a:blip r:embed="rId3"/>
          <a:stretch>
            <a:fillRect/>
          </a:stretch>
        </p:blipFill>
        <p:spPr>
          <a:xfrm>
            <a:off x="6561222" y="3121589"/>
            <a:ext cx="4325018" cy="640135"/>
          </a:xfrm>
          <a:prstGeom prst="rect">
            <a:avLst/>
          </a:prstGeom>
        </p:spPr>
      </p:pic>
      <p:pic>
        <p:nvPicPr>
          <p:cNvPr id="6" name="Picture 5">
            <a:extLst>
              <a:ext uri="{FF2B5EF4-FFF2-40B4-BE49-F238E27FC236}">
                <a16:creationId xmlns:a16="http://schemas.microsoft.com/office/drawing/2014/main" id="{D205A8D9-22EA-4820-0A0B-C96732A1F86A}"/>
              </a:ext>
            </a:extLst>
          </p:cNvPr>
          <p:cNvPicPr>
            <a:picLocks noChangeAspect="1"/>
          </p:cNvPicPr>
          <p:nvPr/>
        </p:nvPicPr>
        <p:blipFill>
          <a:blip r:embed="rId4"/>
          <a:stretch>
            <a:fillRect/>
          </a:stretch>
        </p:blipFill>
        <p:spPr>
          <a:xfrm>
            <a:off x="2498558" y="4393352"/>
            <a:ext cx="7772400" cy="1022394"/>
          </a:xfrm>
          <a:prstGeom prst="rect">
            <a:avLst/>
          </a:prstGeom>
        </p:spPr>
      </p:pic>
      <p:sp>
        <p:nvSpPr>
          <p:cNvPr id="7" name="TextBox 6">
            <a:extLst>
              <a:ext uri="{FF2B5EF4-FFF2-40B4-BE49-F238E27FC236}">
                <a16:creationId xmlns:a16="http://schemas.microsoft.com/office/drawing/2014/main" id="{0CE43DA2-D8F0-1585-A687-CA43D4E32B02}"/>
              </a:ext>
            </a:extLst>
          </p:cNvPr>
          <p:cNvSpPr txBox="1"/>
          <p:nvPr/>
        </p:nvSpPr>
        <p:spPr>
          <a:xfrm>
            <a:off x="3144252" y="6288848"/>
            <a:ext cx="5428024" cy="369332"/>
          </a:xfrm>
          <a:prstGeom prst="rect">
            <a:avLst/>
          </a:prstGeom>
          <a:noFill/>
        </p:spPr>
        <p:txBody>
          <a:bodyPr wrap="none" rtlCol="0">
            <a:spAutoFit/>
          </a:bodyPr>
          <a:lstStyle/>
          <a:p>
            <a:r>
              <a:rPr lang="en-US"/>
              <a:t>Being from the East, in this example, is the “baseline”</a:t>
            </a:r>
          </a:p>
        </p:txBody>
      </p:sp>
    </p:spTree>
    <p:extLst>
      <p:ext uri="{BB962C8B-B14F-4D97-AF65-F5344CB8AC3E}">
        <p14:creationId xmlns:p14="http://schemas.microsoft.com/office/powerpoint/2010/main" val="9317732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F22A1-5B2C-6947-0D1E-937E09FE3E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D943CD-58D7-EE78-C6BA-B8FA750EC9DE}"/>
              </a:ext>
            </a:extLst>
          </p:cNvPr>
          <p:cNvSpPr>
            <a:spLocks noGrp="1"/>
          </p:cNvSpPr>
          <p:nvPr>
            <p:ph idx="1"/>
          </p:nvPr>
        </p:nvSpPr>
        <p:spPr/>
        <p:txBody>
          <a:bodyPr/>
          <a:lstStyle/>
          <a:p>
            <a:pPr marL="0" indent="0">
              <a:buNone/>
            </a:pPr>
            <a:r>
              <a:rPr lang="en-US"/>
              <a:t>What if the response is qualitative?</a:t>
            </a:r>
          </a:p>
          <a:p>
            <a:pPr marL="0" indent="0">
              <a:buNone/>
            </a:pPr>
            <a:endParaRPr lang="en-US"/>
          </a:p>
          <a:p>
            <a:pPr marL="0" indent="0">
              <a:buNone/>
            </a:pPr>
            <a:r>
              <a:rPr lang="en-US"/>
              <a:t>Can we still use the regression model?</a:t>
            </a:r>
          </a:p>
          <a:p>
            <a:pPr marL="0" indent="0">
              <a:buNone/>
            </a:pPr>
            <a:endParaRPr lang="en-US"/>
          </a:p>
          <a:p>
            <a:pPr marL="0" indent="0">
              <a:buNone/>
            </a:pPr>
            <a:r>
              <a:rPr lang="en-US"/>
              <a:t>Later in the course</a:t>
            </a:r>
          </a:p>
        </p:txBody>
      </p:sp>
    </p:spTree>
    <p:extLst>
      <p:ext uri="{BB962C8B-B14F-4D97-AF65-F5344CB8AC3E}">
        <p14:creationId xmlns:p14="http://schemas.microsoft.com/office/powerpoint/2010/main" val="3547092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051FD-B7CD-2D72-C328-644766247709}"/>
              </a:ext>
            </a:extLst>
          </p:cNvPr>
          <p:cNvSpPr>
            <a:spLocks noGrp="1"/>
          </p:cNvSpPr>
          <p:nvPr>
            <p:ph type="title"/>
          </p:nvPr>
        </p:nvSpPr>
        <p:spPr/>
        <p:txBody>
          <a:bodyPr/>
          <a:lstStyle/>
          <a:p>
            <a:r>
              <a:rPr lang="en-US"/>
              <a:t>Final considerations on regression models</a:t>
            </a:r>
          </a:p>
        </p:txBody>
      </p:sp>
      <p:sp>
        <p:nvSpPr>
          <p:cNvPr id="3" name="Content Placeholder 2">
            <a:extLst>
              <a:ext uri="{FF2B5EF4-FFF2-40B4-BE49-F238E27FC236}">
                <a16:creationId xmlns:a16="http://schemas.microsoft.com/office/drawing/2014/main" id="{0020902E-1BFB-BBEF-203B-C2DFFBAB58D4}"/>
              </a:ext>
            </a:extLst>
          </p:cNvPr>
          <p:cNvSpPr>
            <a:spLocks noGrp="1"/>
          </p:cNvSpPr>
          <p:nvPr>
            <p:ph idx="1"/>
          </p:nvPr>
        </p:nvSpPr>
        <p:spPr/>
        <p:txBody>
          <a:bodyPr/>
          <a:lstStyle/>
          <a:p>
            <a:r>
              <a:rPr lang="en-US"/>
              <a:t>Qualitative predictors</a:t>
            </a:r>
          </a:p>
          <a:p>
            <a:r>
              <a:rPr lang="en-US" b="1"/>
              <a:t>Extensions</a:t>
            </a:r>
          </a:p>
          <a:p>
            <a:pPr lvl="1"/>
            <a:r>
              <a:rPr lang="en-US"/>
              <a:t>Removing additive assumptions</a:t>
            </a:r>
          </a:p>
          <a:p>
            <a:pPr lvl="1"/>
            <a:r>
              <a:rPr lang="en-US"/>
              <a:t>Non-linear relations</a:t>
            </a:r>
          </a:p>
          <a:p>
            <a:r>
              <a:rPr lang="en-US"/>
              <a:t>Potential problems of regression models</a:t>
            </a:r>
          </a:p>
        </p:txBody>
      </p:sp>
    </p:spTree>
    <p:extLst>
      <p:ext uri="{BB962C8B-B14F-4D97-AF65-F5344CB8AC3E}">
        <p14:creationId xmlns:p14="http://schemas.microsoft.com/office/powerpoint/2010/main" val="13097787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C1ED5-A1D3-00DD-8F8F-F76E6BD0509F}"/>
              </a:ext>
            </a:extLst>
          </p:cNvPr>
          <p:cNvSpPr>
            <a:spLocks noGrp="1"/>
          </p:cNvSpPr>
          <p:nvPr>
            <p:ph type="title"/>
          </p:nvPr>
        </p:nvSpPr>
        <p:spPr/>
        <p:txBody>
          <a:bodyPr/>
          <a:lstStyle/>
          <a:p>
            <a:r>
              <a:rPr lang="en-US"/>
              <a:t>Extending the linear regression</a:t>
            </a:r>
          </a:p>
        </p:txBody>
      </p:sp>
      <p:sp>
        <p:nvSpPr>
          <p:cNvPr id="3" name="Content Placeholder 2">
            <a:extLst>
              <a:ext uri="{FF2B5EF4-FFF2-40B4-BE49-F238E27FC236}">
                <a16:creationId xmlns:a16="http://schemas.microsoft.com/office/drawing/2014/main" id="{21ACA293-3C14-DC50-B371-B4E18DBF94BC}"/>
              </a:ext>
            </a:extLst>
          </p:cNvPr>
          <p:cNvSpPr>
            <a:spLocks noGrp="1"/>
          </p:cNvSpPr>
          <p:nvPr>
            <p:ph idx="1"/>
          </p:nvPr>
        </p:nvSpPr>
        <p:spPr/>
        <p:txBody>
          <a:bodyPr/>
          <a:lstStyle/>
          <a:p>
            <a:r>
              <a:rPr lang="en-US" dirty="0"/>
              <a:t>Linear regression makes two strong assumptions on the relation between the predictors and the response</a:t>
            </a:r>
            <a:br>
              <a:rPr lang="en-US" dirty="0"/>
            </a:br>
            <a:endParaRPr lang="en-US" dirty="0"/>
          </a:p>
          <a:p>
            <a:pPr lvl="1"/>
            <a:r>
              <a:rPr lang="en-US" b="1" dirty="0"/>
              <a:t>Additivity</a:t>
            </a:r>
            <a:r>
              <a:rPr lang="en-US" dirty="0"/>
              <a:t>: the relation between a predictor </a:t>
            </a:r>
            <a:r>
              <a:rPr lang="en-US" dirty="0" err="1"/>
              <a:t>X</a:t>
            </a:r>
            <a:r>
              <a:rPr lang="en-US" baseline="-25000" dirty="0" err="1"/>
              <a:t>j</a:t>
            </a:r>
            <a:r>
              <a:rPr lang="en-US" dirty="0"/>
              <a:t> and the response Y does not depend on the values of the other predictors</a:t>
            </a:r>
            <a:br>
              <a:rPr lang="en-US" dirty="0"/>
            </a:br>
            <a:endParaRPr lang="en-US" dirty="0"/>
          </a:p>
          <a:p>
            <a:pPr lvl="1"/>
            <a:r>
              <a:rPr lang="en-US" b="1" dirty="0"/>
              <a:t>Linearity</a:t>
            </a:r>
            <a:r>
              <a:rPr lang="en-US" dirty="0"/>
              <a:t>: the change in the response Y associated with a one-unit change of </a:t>
            </a:r>
            <a:r>
              <a:rPr lang="en-US" dirty="0" err="1"/>
              <a:t>X</a:t>
            </a:r>
            <a:r>
              <a:rPr lang="en-US" baseline="-25000" dirty="0" err="1"/>
              <a:t>j</a:t>
            </a:r>
            <a:r>
              <a:rPr lang="en-US" dirty="0"/>
              <a:t> is constant, regardless of the value of </a:t>
            </a:r>
            <a:r>
              <a:rPr lang="en-US" dirty="0" err="1"/>
              <a:t>X</a:t>
            </a:r>
            <a:r>
              <a:rPr lang="en-US" baseline="-25000" dirty="0" err="1"/>
              <a:t>j</a:t>
            </a:r>
            <a:endParaRPr lang="en-US" baseline="-25000" dirty="0"/>
          </a:p>
        </p:txBody>
      </p:sp>
    </p:spTree>
    <p:extLst>
      <p:ext uri="{BB962C8B-B14F-4D97-AF65-F5344CB8AC3E}">
        <p14:creationId xmlns:p14="http://schemas.microsoft.com/office/powerpoint/2010/main" val="33923898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03943-0159-D547-C410-83987703026D}"/>
              </a:ext>
            </a:extLst>
          </p:cNvPr>
          <p:cNvSpPr>
            <a:spLocks noGrp="1"/>
          </p:cNvSpPr>
          <p:nvPr>
            <p:ph type="title"/>
          </p:nvPr>
        </p:nvSpPr>
        <p:spPr/>
        <p:txBody>
          <a:bodyPr/>
          <a:lstStyle/>
          <a:p>
            <a:r>
              <a:rPr lang="en-US"/>
              <a:t>Removing the additive assumption</a:t>
            </a:r>
          </a:p>
        </p:txBody>
      </p:sp>
      <p:sp>
        <p:nvSpPr>
          <p:cNvPr id="3" name="Content Placeholder 2">
            <a:extLst>
              <a:ext uri="{FF2B5EF4-FFF2-40B4-BE49-F238E27FC236}">
                <a16:creationId xmlns:a16="http://schemas.microsoft.com/office/drawing/2014/main" id="{D3B37A6E-A91E-E9F1-6731-F08287FBC21D}"/>
              </a:ext>
            </a:extLst>
          </p:cNvPr>
          <p:cNvSpPr>
            <a:spLocks noGrp="1"/>
          </p:cNvSpPr>
          <p:nvPr>
            <p:ph idx="1"/>
          </p:nvPr>
        </p:nvSpPr>
        <p:spPr/>
        <p:txBody>
          <a:bodyPr/>
          <a:lstStyle/>
          <a:p>
            <a:r>
              <a:rPr lang="en-US"/>
              <a:t>We can include “interaction terms” as additional predictors</a:t>
            </a:r>
          </a:p>
        </p:txBody>
      </p:sp>
      <p:pic>
        <p:nvPicPr>
          <p:cNvPr id="4" name="Picture 3">
            <a:extLst>
              <a:ext uri="{FF2B5EF4-FFF2-40B4-BE49-F238E27FC236}">
                <a16:creationId xmlns:a16="http://schemas.microsoft.com/office/drawing/2014/main" id="{8BB27FA4-3070-AAF2-4CDC-0D48F50805D4}"/>
              </a:ext>
            </a:extLst>
          </p:cNvPr>
          <p:cNvPicPr>
            <a:picLocks noChangeAspect="1"/>
          </p:cNvPicPr>
          <p:nvPr/>
        </p:nvPicPr>
        <p:blipFill>
          <a:blip r:embed="rId2"/>
          <a:stretch>
            <a:fillRect/>
          </a:stretch>
        </p:blipFill>
        <p:spPr>
          <a:xfrm>
            <a:off x="3397250" y="3155950"/>
            <a:ext cx="5397500" cy="546100"/>
          </a:xfrm>
          <a:prstGeom prst="rect">
            <a:avLst/>
          </a:prstGeom>
        </p:spPr>
      </p:pic>
      <p:pic>
        <p:nvPicPr>
          <p:cNvPr id="5" name="Picture 4">
            <a:extLst>
              <a:ext uri="{FF2B5EF4-FFF2-40B4-BE49-F238E27FC236}">
                <a16:creationId xmlns:a16="http://schemas.microsoft.com/office/drawing/2014/main" id="{A6B044B0-F254-6A68-2CFF-758ABD1CEA55}"/>
              </a:ext>
            </a:extLst>
          </p:cNvPr>
          <p:cNvPicPr>
            <a:picLocks noChangeAspect="1"/>
          </p:cNvPicPr>
          <p:nvPr/>
        </p:nvPicPr>
        <p:blipFill>
          <a:blip r:embed="rId3"/>
          <a:stretch>
            <a:fillRect/>
          </a:stretch>
        </p:blipFill>
        <p:spPr>
          <a:xfrm>
            <a:off x="1431090" y="4050506"/>
            <a:ext cx="5511800" cy="889000"/>
          </a:xfrm>
          <a:prstGeom prst="rect">
            <a:avLst/>
          </a:prstGeom>
        </p:spPr>
      </p:pic>
      <p:pic>
        <p:nvPicPr>
          <p:cNvPr id="6" name="Picture 5">
            <a:extLst>
              <a:ext uri="{FF2B5EF4-FFF2-40B4-BE49-F238E27FC236}">
                <a16:creationId xmlns:a16="http://schemas.microsoft.com/office/drawing/2014/main" id="{4B06AA53-2AB6-E859-040E-B987F2DA8FB1}"/>
              </a:ext>
            </a:extLst>
          </p:cNvPr>
          <p:cNvPicPr>
            <a:picLocks noChangeAspect="1"/>
          </p:cNvPicPr>
          <p:nvPr/>
        </p:nvPicPr>
        <p:blipFill>
          <a:blip r:embed="rId4"/>
          <a:stretch>
            <a:fillRect/>
          </a:stretch>
        </p:blipFill>
        <p:spPr>
          <a:xfrm>
            <a:off x="7535780" y="4272756"/>
            <a:ext cx="2273300" cy="444500"/>
          </a:xfrm>
          <a:prstGeom prst="rect">
            <a:avLst/>
          </a:prstGeom>
        </p:spPr>
      </p:pic>
      <p:sp>
        <p:nvSpPr>
          <p:cNvPr id="7" name="TextBox 6">
            <a:extLst>
              <a:ext uri="{FF2B5EF4-FFF2-40B4-BE49-F238E27FC236}">
                <a16:creationId xmlns:a16="http://schemas.microsoft.com/office/drawing/2014/main" id="{04F796FA-A382-AD5D-11E7-11E0A34D803A}"/>
              </a:ext>
            </a:extLst>
          </p:cNvPr>
          <p:cNvSpPr txBox="1"/>
          <p:nvPr/>
        </p:nvSpPr>
        <p:spPr>
          <a:xfrm>
            <a:off x="2005263" y="6176963"/>
            <a:ext cx="8527463" cy="369332"/>
          </a:xfrm>
          <a:prstGeom prst="rect">
            <a:avLst/>
          </a:prstGeom>
          <a:noFill/>
        </p:spPr>
        <p:txBody>
          <a:bodyPr wrap="none" rtlCol="0">
            <a:spAutoFit/>
          </a:bodyPr>
          <a:lstStyle/>
          <a:p>
            <a:r>
              <a:rPr lang="en-US"/>
              <a:t>The relation between X1 and Y is no longer constant, but influenced by changes of X2</a:t>
            </a:r>
          </a:p>
        </p:txBody>
      </p:sp>
    </p:spTree>
    <p:extLst>
      <p:ext uri="{BB962C8B-B14F-4D97-AF65-F5344CB8AC3E}">
        <p14:creationId xmlns:p14="http://schemas.microsoft.com/office/powerpoint/2010/main" val="24654680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ADAFA-A363-B184-B586-7F1122A42593}"/>
              </a:ext>
            </a:extLst>
          </p:cNvPr>
          <p:cNvSpPr>
            <a:spLocks noGrp="1"/>
          </p:cNvSpPr>
          <p:nvPr>
            <p:ph type="title"/>
          </p:nvPr>
        </p:nvSpPr>
        <p:spPr/>
        <p:txBody>
          <a:bodyPr/>
          <a:lstStyle/>
          <a:p>
            <a:r>
              <a:rPr lang="en-US"/>
              <a:t>Non-linear relations</a:t>
            </a:r>
          </a:p>
        </p:txBody>
      </p:sp>
      <p:sp>
        <p:nvSpPr>
          <p:cNvPr id="3" name="Content Placeholder 2">
            <a:extLst>
              <a:ext uri="{FF2B5EF4-FFF2-40B4-BE49-F238E27FC236}">
                <a16:creationId xmlns:a16="http://schemas.microsoft.com/office/drawing/2014/main" id="{1C462ECE-4C87-AD93-0BD5-27E0864C8858}"/>
              </a:ext>
            </a:extLst>
          </p:cNvPr>
          <p:cNvSpPr>
            <a:spLocks noGrp="1"/>
          </p:cNvSpPr>
          <p:nvPr>
            <p:ph idx="1"/>
          </p:nvPr>
        </p:nvSpPr>
        <p:spPr/>
        <p:txBody>
          <a:bodyPr/>
          <a:lstStyle/>
          <a:p>
            <a:r>
              <a:rPr lang="en-US" dirty="0"/>
              <a:t>A simple way is to consider polynomial regression</a:t>
            </a:r>
          </a:p>
          <a:p>
            <a:r>
              <a:rPr lang="en-US" dirty="0"/>
              <a:t>Example: predicting gas mileage based on vehicle horsepower</a:t>
            </a:r>
            <a:br>
              <a:rPr lang="en-US" dirty="0"/>
            </a:br>
            <a:br>
              <a:rPr lang="en-US" dirty="0"/>
            </a:br>
            <a:br>
              <a:rPr lang="en-US" dirty="0"/>
            </a:br>
            <a:endParaRPr lang="en-US" dirty="0"/>
          </a:p>
          <a:p>
            <a:r>
              <a:rPr lang="en-US" dirty="0"/>
              <a:t>We predict mpg as a quadric function of horsepower</a:t>
            </a:r>
          </a:p>
          <a:p>
            <a:r>
              <a:rPr lang="en-US" dirty="0"/>
              <a:t>But it is still a linear model!</a:t>
            </a:r>
          </a:p>
          <a:p>
            <a:pPr lvl="1"/>
            <a:r>
              <a:rPr lang="en-US" dirty="0"/>
              <a:t>X1 = horsepower</a:t>
            </a:r>
          </a:p>
          <a:p>
            <a:pPr lvl="1"/>
            <a:r>
              <a:rPr lang="en-US" dirty="0"/>
              <a:t>X2 = horsepower</a:t>
            </a:r>
            <a:r>
              <a:rPr lang="en-US" baseline="30000" dirty="0"/>
              <a:t>2</a:t>
            </a:r>
          </a:p>
        </p:txBody>
      </p:sp>
      <p:pic>
        <p:nvPicPr>
          <p:cNvPr id="4" name="Picture 3">
            <a:extLst>
              <a:ext uri="{FF2B5EF4-FFF2-40B4-BE49-F238E27FC236}">
                <a16:creationId xmlns:a16="http://schemas.microsoft.com/office/drawing/2014/main" id="{D9AF6195-61A6-D78C-4195-08A35582B9A1}"/>
              </a:ext>
            </a:extLst>
          </p:cNvPr>
          <p:cNvPicPr>
            <a:picLocks noChangeAspect="1"/>
          </p:cNvPicPr>
          <p:nvPr/>
        </p:nvPicPr>
        <p:blipFill>
          <a:blip r:embed="rId2"/>
          <a:stretch>
            <a:fillRect/>
          </a:stretch>
        </p:blipFill>
        <p:spPr>
          <a:xfrm>
            <a:off x="2421355" y="3206750"/>
            <a:ext cx="7124700" cy="444500"/>
          </a:xfrm>
          <a:prstGeom prst="rect">
            <a:avLst/>
          </a:prstGeom>
        </p:spPr>
      </p:pic>
    </p:spTree>
    <p:extLst>
      <p:ext uri="{BB962C8B-B14F-4D97-AF65-F5344CB8AC3E}">
        <p14:creationId xmlns:p14="http://schemas.microsoft.com/office/powerpoint/2010/main" val="10318935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59133-6A7A-EC4F-0F0F-202128C2FE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F3CAFF-1E1D-9540-DA50-3B1CDDC5E93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26D15A64-6E50-5F42-67D4-4CADFE011DF0}"/>
              </a:ext>
            </a:extLst>
          </p:cNvPr>
          <p:cNvPicPr>
            <a:picLocks noChangeAspect="1"/>
          </p:cNvPicPr>
          <p:nvPr/>
        </p:nvPicPr>
        <p:blipFill>
          <a:blip r:embed="rId2"/>
          <a:stretch>
            <a:fillRect/>
          </a:stretch>
        </p:blipFill>
        <p:spPr>
          <a:xfrm>
            <a:off x="838200" y="129842"/>
            <a:ext cx="6979132" cy="4714874"/>
          </a:xfrm>
          <a:prstGeom prst="rect">
            <a:avLst/>
          </a:prstGeom>
        </p:spPr>
      </p:pic>
      <p:pic>
        <p:nvPicPr>
          <p:cNvPr id="5" name="Picture 4">
            <a:extLst>
              <a:ext uri="{FF2B5EF4-FFF2-40B4-BE49-F238E27FC236}">
                <a16:creationId xmlns:a16="http://schemas.microsoft.com/office/drawing/2014/main" id="{389AB18E-7C6D-95A1-5F53-A3D49D3A848A}"/>
              </a:ext>
            </a:extLst>
          </p:cNvPr>
          <p:cNvPicPr>
            <a:picLocks noChangeAspect="1"/>
          </p:cNvPicPr>
          <p:nvPr/>
        </p:nvPicPr>
        <p:blipFill>
          <a:blip r:embed="rId3"/>
          <a:stretch>
            <a:fillRect/>
          </a:stretch>
        </p:blipFill>
        <p:spPr>
          <a:xfrm>
            <a:off x="3814010" y="4827158"/>
            <a:ext cx="7772400" cy="1484742"/>
          </a:xfrm>
          <a:prstGeom prst="rect">
            <a:avLst/>
          </a:prstGeom>
        </p:spPr>
      </p:pic>
    </p:spTree>
    <p:extLst>
      <p:ext uri="{BB962C8B-B14F-4D97-AF65-F5344CB8AC3E}">
        <p14:creationId xmlns:p14="http://schemas.microsoft.com/office/powerpoint/2010/main" val="13244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051FD-B7CD-2D72-C328-644766247709}"/>
              </a:ext>
            </a:extLst>
          </p:cNvPr>
          <p:cNvSpPr>
            <a:spLocks noGrp="1"/>
          </p:cNvSpPr>
          <p:nvPr>
            <p:ph type="title"/>
          </p:nvPr>
        </p:nvSpPr>
        <p:spPr/>
        <p:txBody>
          <a:bodyPr/>
          <a:lstStyle/>
          <a:p>
            <a:r>
              <a:rPr lang="en-US"/>
              <a:t>Final considerations on regression models</a:t>
            </a:r>
          </a:p>
        </p:txBody>
      </p:sp>
      <p:sp>
        <p:nvSpPr>
          <p:cNvPr id="3" name="Content Placeholder 2">
            <a:extLst>
              <a:ext uri="{FF2B5EF4-FFF2-40B4-BE49-F238E27FC236}">
                <a16:creationId xmlns:a16="http://schemas.microsoft.com/office/drawing/2014/main" id="{0020902E-1BFB-BBEF-203B-C2DFFBAB58D4}"/>
              </a:ext>
            </a:extLst>
          </p:cNvPr>
          <p:cNvSpPr>
            <a:spLocks noGrp="1"/>
          </p:cNvSpPr>
          <p:nvPr>
            <p:ph idx="1"/>
          </p:nvPr>
        </p:nvSpPr>
        <p:spPr/>
        <p:txBody>
          <a:bodyPr/>
          <a:lstStyle/>
          <a:p>
            <a:r>
              <a:rPr lang="en-US"/>
              <a:t>Qualitative predictors</a:t>
            </a:r>
          </a:p>
          <a:p>
            <a:r>
              <a:rPr lang="en-US"/>
              <a:t>Extensions</a:t>
            </a:r>
          </a:p>
          <a:p>
            <a:pPr lvl="1"/>
            <a:r>
              <a:rPr lang="en-US"/>
              <a:t>Removing additive assumptions</a:t>
            </a:r>
          </a:p>
          <a:p>
            <a:pPr lvl="1"/>
            <a:r>
              <a:rPr lang="en-US"/>
              <a:t>Non-linear relations</a:t>
            </a:r>
          </a:p>
          <a:p>
            <a:r>
              <a:rPr lang="en-US" b="1"/>
              <a:t>Potential problems of regression models</a:t>
            </a:r>
          </a:p>
        </p:txBody>
      </p:sp>
    </p:spTree>
    <p:extLst>
      <p:ext uri="{BB962C8B-B14F-4D97-AF65-F5344CB8AC3E}">
        <p14:creationId xmlns:p14="http://schemas.microsoft.com/office/powerpoint/2010/main" val="4958438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D4245-B337-8906-BB32-D34C0183D1AC}"/>
              </a:ext>
            </a:extLst>
          </p:cNvPr>
          <p:cNvSpPr>
            <a:spLocks noGrp="1"/>
          </p:cNvSpPr>
          <p:nvPr>
            <p:ph type="title"/>
          </p:nvPr>
        </p:nvSpPr>
        <p:spPr/>
        <p:txBody>
          <a:bodyPr/>
          <a:lstStyle/>
          <a:p>
            <a:r>
              <a:rPr lang="en-US"/>
              <a:t>Non-linearity of the data</a:t>
            </a:r>
          </a:p>
        </p:txBody>
      </p:sp>
      <p:sp>
        <p:nvSpPr>
          <p:cNvPr id="3" name="Content Placeholder 2">
            <a:extLst>
              <a:ext uri="{FF2B5EF4-FFF2-40B4-BE49-F238E27FC236}">
                <a16:creationId xmlns:a16="http://schemas.microsoft.com/office/drawing/2014/main" id="{0B7CB2C7-AAC9-77EC-50EF-8A598019A688}"/>
              </a:ext>
            </a:extLst>
          </p:cNvPr>
          <p:cNvSpPr>
            <a:spLocks noGrp="1"/>
          </p:cNvSpPr>
          <p:nvPr>
            <p:ph idx="1"/>
          </p:nvPr>
        </p:nvSpPr>
        <p:spPr>
          <a:xfrm>
            <a:off x="838200" y="1825625"/>
            <a:ext cx="10515600" cy="1325563"/>
          </a:xfrm>
        </p:spPr>
        <p:txBody>
          <a:bodyPr>
            <a:normAutofit fontScale="85000" lnSpcReduction="10000"/>
          </a:bodyPr>
          <a:lstStyle/>
          <a:p>
            <a:r>
              <a:rPr lang="en-US" dirty="0"/>
              <a:t>The true relation between the response Y and the predictors </a:t>
            </a:r>
            <a:r>
              <a:rPr lang="en-US" dirty="0" err="1"/>
              <a:t>X</a:t>
            </a:r>
            <a:r>
              <a:rPr lang="en-US" baseline="-25000" dirty="0" err="1"/>
              <a:t>j</a:t>
            </a:r>
            <a:r>
              <a:rPr lang="en-US" dirty="0"/>
              <a:t> may be far from linear</a:t>
            </a:r>
          </a:p>
          <a:p>
            <a:r>
              <a:rPr lang="en-US" dirty="0"/>
              <a:t>Linear regression will always enforce a linear relation, leading to large errors</a:t>
            </a:r>
          </a:p>
        </p:txBody>
      </p:sp>
      <p:sp>
        <p:nvSpPr>
          <p:cNvPr id="4" name="TextBox 3">
            <a:extLst>
              <a:ext uri="{FF2B5EF4-FFF2-40B4-BE49-F238E27FC236}">
                <a16:creationId xmlns:a16="http://schemas.microsoft.com/office/drawing/2014/main" id="{7ADE6F1F-D628-305C-6557-8825DD06F9FF}"/>
              </a:ext>
            </a:extLst>
          </p:cNvPr>
          <p:cNvSpPr txBox="1"/>
          <p:nvPr/>
        </p:nvSpPr>
        <p:spPr>
          <a:xfrm>
            <a:off x="3655402" y="6560780"/>
            <a:ext cx="1485087" cy="276999"/>
          </a:xfrm>
          <a:prstGeom prst="rect">
            <a:avLst/>
          </a:prstGeom>
          <a:noFill/>
        </p:spPr>
        <p:txBody>
          <a:bodyPr wrap="none" rtlCol="0">
            <a:spAutoFit/>
          </a:bodyPr>
          <a:lstStyle/>
          <a:p>
            <a:r>
              <a:rPr lang="en-US" sz="1200"/>
              <a:t>mpg=f(horsepower)</a:t>
            </a:r>
          </a:p>
        </p:txBody>
      </p:sp>
      <p:sp>
        <p:nvSpPr>
          <p:cNvPr id="5" name="TextBox 4">
            <a:extLst>
              <a:ext uri="{FF2B5EF4-FFF2-40B4-BE49-F238E27FC236}">
                <a16:creationId xmlns:a16="http://schemas.microsoft.com/office/drawing/2014/main" id="{130B8F4A-00AB-488C-9594-39F34E9D7CFB}"/>
              </a:ext>
            </a:extLst>
          </p:cNvPr>
          <p:cNvSpPr txBox="1"/>
          <p:nvPr/>
        </p:nvSpPr>
        <p:spPr>
          <a:xfrm>
            <a:off x="7051512" y="6492874"/>
            <a:ext cx="2418932" cy="276999"/>
          </a:xfrm>
          <a:prstGeom prst="rect">
            <a:avLst/>
          </a:prstGeom>
          <a:noFill/>
        </p:spPr>
        <p:txBody>
          <a:bodyPr wrap="none" rtlCol="0">
            <a:spAutoFit/>
          </a:bodyPr>
          <a:lstStyle/>
          <a:p>
            <a:r>
              <a:rPr lang="en-US" sz="1200"/>
              <a:t>mpg=f(horsepower, horsepower2)</a:t>
            </a:r>
          </a:p>
        </p:txBody>
      </p:sp>
      <p:pic>
        <p:nvPicPr>
          <p:cNvPr id="6" name="Picture 5">
            <a:extLst>
              <a:ext uri="{FF2B5EF4-FFF2-40B4-BE49-F238E27FC236}">
                <a16:creationId xmlns:a16="http://schemas.microsoft.com/office/drawing/2014/main" id="{EC7081E8-1D47-2175-3FD9-5DD31BC9D911}"/>
              </a:ext>
            </a:extLst>
          </p:cNvPr>
          <p:cNvPicPr>
            <a:picLocks noChangeAspect="1"/>
          </p:cNvPicPr>
          <p:nvPr/>
        </p:nvPicPr>
        <p:blipFill>
          <a:blip r:embed="rId2"/>
          <a:stretch>
            <a:fillRect/>
          </a:stretch>
        </p:blipFill>
        <p:spPr>
          <a:xfrm>
            <a:off x="2308865" y="2952696"/>
            <a:ext cx="7323219" cy="3540178"/>
          </a:xfrm>
          <a:prstGeom prst="rect">
            <a:avLst/>
          </a:prstGeom>
        </p:spPr>
      </p:pic>
    </p:spTree>
    <p:extLst>
      <p:ext uri="{BB962C8B-B14F-4D97-AF65-F5344CB8AC3E}">
        <p14:creationId xmlns:p14="http://schemas.microsoft.com/office/powerpoint/2010/main" val="12117041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DC17E-8B45-E56F-4A33-8BE88A30721E}"/>
              </a:ext>
            </a:extLst>
          </p:cNvPr>
          <p:cNvSpPr>
            <a:spLocks noGrp="1"/>
          </p:cNvSpPr>
          <p:nvPr>
            <p:ph type="title"/>
          </p:nvPr>
        </p:nvSpPr>
        <p:spPr/>
        <p:txBody>
          <a:bodyPr/>
          <a:lstStyle/>
          <a:p>
            <a:r>
              <a:rPr lang="en-US"/>
              <a:t>Linear v. KNN Regression</a:t>
            </a:r>
          </a:p>
        </p:txBody>
      </p:sp>
      <p:sp>
        <p:nvSpPr>
          <p:cNvPr id="3" name="Content Placeholder 2">
            <a:extLst>
              <a:ext uri="{FF2B5EF4-FFF2-40B4-BE49-F238E27FC236}">
                <a16:creationId xmlns:a16="http://schemas.microsoft.com/office/drawing/2014/main" id="{4D98E0B5-1110-B428-394F-4E108A643FF8}"/>
              </a:ext>
            </a:extLst>
          </p:cNvPr>
          <p:cNvSpPr>
            <a:spLocks noGrp="1"/>
          </p:cNvSpPr>
          <p:nvPr>
            <p:ph idx="1"/>
          </p:nvPr>
        </p:nvSpPr>
        <p:spPr/>
        <p:txBody>
          <a:bodyPr/>
          <a:lstStyle/>
          <a:p>
            <a:r>
              <a:rPr lang="en-US" dirty="0"/>
              <a:t>Linear regression is parametric</a:t>
            </a:r>
          </a:p>
          <a:p>
            <a:r>
              <a:rPr lang="en-US" dirty="0"/>
              <a:t>KNN regression as an example of non-parametric method</a:t>
            </a:r>
          </a:p>
          <a:p>
            <a:pPr lvl="1"/>
            <a:r>
              <a:rPr lang="en-US" dirty="0"/>
              <a:t>Given K, x</a:t>
            </a:r>
            <a:r>
              <a:rPr lang="en-US" baseline="-25000" dirty="0"/>
              <a:t>0</a:t>
            </a:r>
            <a:r>
              <a:rPr lang="en-US" dirty="0"/>
              <a:t>, N</a:t>
            </a:r>
            <a:r>
              <a:rPr lang="en-US" baseline="-25000" dirty="0"/>
              <a:t>0</a:t>
            </a:r>
            <a:r>
              <a:rPr lang="en-US" dirty="0"/>
              <a:t> are the K closest observations to x</a:t>
            </a:r>
            <a:r>
              <a:rPr lang="en-US" baseline="-25000" dirty="0"/>
              <a:t>0</a:t>
            </a:r>
            <a:r>
              <a:rPr lang="en-US" dirty="0"/>
              <a:t> in the training set</a:t>
            </a:r>
          </a:p>
        </p:txBody>
      </p:sp>
      <p:pic>
        <p:nvPicPr>
          <p:cNvPr id="4" name="Picture 3">
            <a:extLst>
              <a:ext uri="{FF2B5EF4-FFF2-40B4-BE49-F238E27FC236}">
                <a16:creationId xmlns:a16="http://schemas.microsoft.com/office/drawing/2014/main" id="{B9696951-FE1E-CBE6-B110-9B74752B1561}"/>
              </a:ext>
            </a:extLst>
          </p:cNvPr>
          <p:cNvPicPr>
            <a:picLocks noChangeAspect="1"/>
          </p:cNvPicPr>
          <p:nvPr/>
        </p:nvPicPr>
        <p:blipFill>
          <a:blip r:embed="rId2"/>
          <a:stretch>
            <a:fillRect/>
          </a:stretch>
        </p:blipFill>
        <p:spPr>
          <a:xfrm>
            <a:off x="4635500" y="4222207"/>
            <a:ext cx="2921000" cy="1130300"/>
          </a:xfrm>
          <a:prstGeom prst="rect">
            <a:avLst/>
          </a:prstGeom>
        </p:spPr>
      </p:pic>
    </p:spTree>
    <p:extLst>
      <p:ext uri="{BB962C8B-B14F-4D97-AF65-F5344CB8AC3E}">
        <p14:creationId xmlns:p14="http://schemas.microsoft.com/office/powerpoint/2010/main" val="35465909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8F9C1-5738-52BE-F940-2BD82E659AA3}"/>
              </a:ext>
            </a:extLst>
          </p:cNvPr>
          <p:cNvSpPr>
            <a:spLocks noGrp="1"/>
          </p:cNvSpPr>
          <p:nvPr>
            <p:ph type="title"/>
          </p:nvPr>
        </p:nvSpPr>
        <p:spPr/>
        <p:txBody>
          <a:bodyPr/>
          <a:lstStyle/>
          <a:p>
            <a:r>
              <a:rPr lang="en-US"/>
              <a:t>Characteristics of KNN regression</a:t>
            </a:r>
          </a:p>
        </p:txBody>
      </p:sp>
      <p:sp>
        <p:nvSpPr>
          <p:cNvPr id="3" name="Content Placeholder 2">
            <a:extLst>
              <a:ext uri="{FF2B5EF4-FFF2-40B4-BE49-F238E27FC236}">
                <a16:creationId xmlns:a16="http://schemas.microsoft.com/office/drawing/2014/main" id="{2BD1A4BA-071C-F514-922C-6F68F6187D10}"/>
              </a:ext>
            </a:extLst>
          </p:cNvPr>
          <p:cNvSpPr>
            <a:spLocks noGrp="1"/>
          </p:cNvSpPr>
          <p:nvPr>
            <p:ph idx="1"/>
          </p:nvPr>
        </p:nvSpPr>
        <p:spPr>
          <a:xfrm>
            <a:off x="838200" y="1825625"/>
            <a:ext cx="10515600" cy="1325563"/>
          </a:xfrm>
        </p:spPr>
        <p:txBody>
          <a:bodyPr>
            <a:normAutofit fontScale="92500" lnSpcReduction="10000"/>
          </a:bodyPr>
          <a:lstStyle/>
          <a:p>
            <a:r>
              <a:rPr lang="en-US"/>
              <a:t>K=1: perfect fit of the data</a:t>
            </a:r>
          </a:p>
          <a:p>
            <a:r>
              <a:rPr lang="en-US"/>
              <a:t>Higher K, smoother fit</a:t>
            </a:r>
          </a:p>
          <a:p>
            <a:r>
              <a:rPr lang="en-US"/>
              <a:t>K to control the bias-variance trade-off</a:t>
            </a:r>
          </a:p>
        </p:txBody>
      </p:sp>
      <p:pic>
        <p:nvPicPr>
          <p:cNvPr id="4" name="Picture 3">
            <a:extLst>
              <a:ext uri="{FF2B5EF4-FFF2-40B4-BE49-F238E27FC236}">
                <a16:creationId xmlns:a16="http://schemas.microsoft.com/office/drawing/2014/main" id="{2F27EEE3-2368-1D99-DCE0-74642603299D}"/>
              </a:ext>
            </a:extLst>
          </p:cNvPr>
          <p:cNvPicPr>
            <a:picLocks noChangeAspect="1"/>
          </p:cNvPicPr>
          <p:nvPr/>
        </p:nvPicPr>
        <p:blipFill>
          <a:blip r:embed="rId2"/>
          <a:stretch>
            <a:fillRect/>
          </a:stretch>
        </p:blipFill>
        <p:spPr>
          <a:xfrm>
            <a:off x="2805363" y="3103045"/>
            <a:ext cx="6581274" cy="3389830"/>
          </a:xfrm>
          <a:prstGeom prst="rect">
            <a:avLst/>
          </a:prstGeom>
        </p:spPr>
      </p:pic>
      <p:sp>
        <p:nvSpPr>
          <p:cNvPr id="5" name="TextBox 4">
            <a:extLst>
              <a:ext uri="{FF2B5EF4-FFF2-40B4-BE49-F238E27FC236}">
                <a16:creationId xmlns:a16="http://schemas.microsoft.com/office/drawing/2014/main" id="{A20F0F18-BD29-C5F6-8047-F5A92BBC92B2}"/>
              </a:ext>
            </a:extLst>
          </p:cNvPr>
          <p:cNvSpPr txBox="1"/>
          <p:nvPr/>
        </p:nvSpPr>
        <p:spPr>
          <a:xfrm>
            <a:off x="3655402" y="6560780"/>
            <a:ext cx="436338" cy="276999"/>
          </a:xfrm>
          <a:prstGeom prst="rect">
            <a:avLst/>
          </a:prstGeom>
          <a:noFill/>
        </p:spPr>
        <p:txBody>
          <a:bodyPr wrap="none" rtlCol="0">
            <a:spAutoFit/>
          </a:bodyPr>
          <a:lstStyle/>
          <a:p>
            <a:r>
              <a:rPr lang="en-US" sz="1200"/>
              <a:t>K=1</a:t>
            </a:r>
          </a:p>
        </p:txBody>
      </p:sp>
      <p:sp>
        <p:nvSpPr>
          <p:cNvPr id="6" name="TextBox 5">
            <a:extLst>
              <a:ext uri="{FF2B5EF4-FFF2-40B4-BE49-F238E27FC236}">
                <a16:creationId xmlns:a16="http://schemas.microsoft.com/office/drawing/2014/main" id="{3CBC38C9-11CD-A86E-BD50-8EEDCB9C5F6E}"/>
              </a:ext>
            </a:extLst>
          </p:cNvPr>
          <p:cNvSpPr txBox="1"/>
          <p:nvPr/>
        </p:nvSpPr>
        <p:spPr>
          <a:xfrm>
            <a:off x="7663924" y="6560779"/>
            <a:ext cx="436338" cy="276999"/>
          </a:xfrm>
          <a:prstGeom prst="rect">
            <a:avLst/>
          </a:prstGeom>
          <a:noFill/>
        </p:spPr>
        <p:txBody>
          <a:bodyPr wrap="none" rtlCol="0">
            <a:spAutoFit/>
          </a:bodyPr>
          <a:lstStyle/>
          <a:p>
            <a:r>
              <a:rPr lang="en-US" sz="1200"/>
              <a:t>K=9</a:t>
            </a:r>
          </a:p>
        </p:txBody>
      </p:sp>
    </p:spTree>
    <p:extLst>
      <p:ext uri="{BB962C8B-B14F-4D97-AF65-F5344CB8AC3E}">
        <p14:creationId xmlns:p14="http://schemas.microsoft.com/office/powerpoint/2010/main" val="37096598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83CEB-0FAC-D514-7DAD-18AB9D9F9F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60038C-34BD-0795-FEB1-83E85AE71771}"/>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C0BB648-201A-94EA-2459-A44E01246D50}"/>
              </a:ext>
            </a:extLst>
          </p:cNvPr>
          <p:cNvPicPr>
            <a:picLocks noChangeAspect="1"/>
          </p:cNvPicPr>
          <p:nvPr/>
        </p:nvPicPr>
        <p:blipFill>
          <a:blip r:embed="rId2"/>
          <a:stretch>
            <a:fillRect/>
          </a:stretch>
        </p:blipFill>
        <p:spPr>
          <a:xfrm>
            <a:off x="2209800" y="1523802"/>
            <a:ext cx="7772400" cy="3810396"/>
          </a:xfrm>
          <a:prstGeom prst="rect">
            <a:avLst/>
          </a:prstGeom>
        </p:spPr>
      </p:pic>
      <p:sp>
        <p:nvSpPr>
          <p:cNvPr id="5" name="TextBox 4">
            <a:extLst>
              <a:ext uri="{FF2B5EF4-FFF2-40B4-BE49-F238E27FC236}">
                <a16:creationId xmlns:a16="http://schemas.microsoft.com/office/drawing/2014/main" id="{7DD4ED97-4D24-4D76-8285-97B84A73C413}"/>
              </a:ext>
            </a:extLst>
          </p:cNvPr>
          <p:cNvSpPr txBox="1"/>
          <p:nvPr/>
        </p:nvSpPr>
        <p:spPr>
          <a:xfrm>
            <a:off x="3655402" y="6560780"/>
            <a:ext cx="436338" cy="276999"/>
          </a:xfrm>
          <a:prstGeom prst="rect">
            <a:avLst/>
          </a:prstGeom>
          <a:noFill/>
        </p:spPr>
        <p:txBody>
          <a:bodyPr wrap="none" rtlCol="0">
            <a:spAutoFit/>
          </a:bodyPr>
          <a:lstStyle/>
          <a:p>
            <a:r>
              <a:rPr lang="en-US" sz="1200"/>
              <a:t>K=1</a:t>
            </a:r>
          </a:p>
        </p:txBody>
      </p:sp>
      <p:sp>
        <p:nvSpPr>
          <p:cNvPr id="6" name="TextBox 5">
            <a:extLst>
              <a:ext uri="{FF2B5EF4-FFF2-40B4-BE49-F238E27FC236}">
                <a16:creationId xmlns:a16="http://schemas.microsoft.com/office/drawing/2014/main" id="{E26737E5-BC22-F2AC-CFB0-E72C6E28135D}"/>
              </a:ext>
            </a:extLst>
          </p:cNvPr>
          <p:cNvSpPr txBox="1"/>
          <p:nvPr/>
        </p:nvSpPr>
        <p:spPr>
          <a:xfrm>
            <a:off x="7663924" y="6560779"/>
            <a:ext cx="436338" cy="276999"/>
          </a:xfrm>
          <a:prstGeom prst="rect">
            <a:avLst/>
          </a:prstGeom>
          <a:noFill/>
        </p:spPr>
        <p:txBody>
          <a:bodyPr wrap="none" rtlCol="0">
            <a:spAutoFit/>
          </a:bodyPr>
          <a:lstStyle/>
          <a:p>
            <a:r>
              <a:rPr lang="en-US" sz="1200"/>
              <a:t>K=9</a:t>
            </a:r>
          </a:p>
        </p:txBody>
      </p:sp>
    </p:spTree>
    <p:extLst>
      <p:ext uri="{BB962C8B-B14F-4D97-AF65-F5344CB8AC3E}">
        <p14:creationId xmlns:p14="http://schemas.microsoft.com/office/powerpoint/2010/main" val="386928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2975</TotalTime>
  <Words>1965</Words>
  <Application>Microsoft Macintosh PowerPoint</Application>
  <PresentationFormat>Widescreen</PresentationFormat>
  <Paragraphs>270</Paragraphs>
  <Slides>65</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Aptos</vt:lpstr>
      <vt:lpstr>Aptos Display</vt:lpstr>
      <vt:lpstr>Arial</vt:lpstr>
      <vt:lpstr>Courier New</vt:lpstr>
      <vt:lpstr>Times New Roman</vt:lpstr>
      <vt:lpstr>Wingdings</vt:lpstr>
      <vt:lpstr>Office Theme</vt:lpstr>
      <vt:lpstr>Linear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Random variables and estimators…</vt:lpstr>
      <vt:lpstr>Random variables and estimators (continued)</vt:lpstr>
      <vt:lpstr>Assessing the accuracy of the coefficients in simple linear regression</vt:lpstr>
      <vt:lpstr>The coefficient estimates are unbiased</vt:lpstr>
      <vt:lpstr>PowerPoint Presentation</vt:lpstr>
      <vt:lpstr>Standard errors of the coefficients</vt:lpstr>
      <vt:lpstr>Confidence intervals</vt:lpstr>
      <vt:lpstr>Hypothesis testing</vt:lpstr>
      <vt:lpstr>Hypothesis testing</vt:lpstr>
      <vt:lpstr>PowerPoint Presentation</vt:lpstr>
      <vt:lpstr>How accurate is the model?</vt:lpstr>
      <vt:lpstr>Residual Standard Error</vt:lpstr>
      <vt:lpstr>How to interpret the RSE?</vt:lpstr>
      <vt:lpstr>Problems with RSE</vt:lpstr>
      <vt:lpstr>The R2 statistic</vt:lpstr>
      <vt:lpstr>Interpreting R2</vt:lpstr>
      <vt:lpstr>Interpreting R2</vt:lpstr>
      <vt:lpstr>What is a good value of R2?</vt:lpstr>
      <vt:lpstr>Multiple linear regression</vt:lpstr>
      <vt:lpstr>Option 1: run separate simple linear regressions</vt:lpstr>
      <vt:lpstr>Problems with single regressions?</vt:lpstr>
      <vt:lpstr>Option 2: extend the simple regression to many predictors (p&gt;1)</vt:lpstr>
      <vt:lpstr>Estimating the coefficients</vt:lpstr>
      <vt:lpstr>PowerPoint Presentation</vt:lpstr>
      <vt:lpstr>PowerPoint Presentation</vt:lpstr>
      <vt:lpstr>Multiple v. many single regressions</vt:lpstr>
      <vt:lpstr>Let’s look at correlations of predictors</vt:lpstr>
      <vt:lpstr>Spurious correlations are everywhere…</vt:lpstr>
      <vt:lpstr>Important questions with multiple regression</vt:lpstr>
      <vt:lpstr>Is there a relationship between the response and the predictors?</vt:lpstr>
      <vt:lpstr>PowerPoint Presentation</vt:lpstr>
      <vt:lpstr>PowerPoint Presentation</vt:lpstr>
      <vt:lpstr>Important questions with multiple regression</vt:lpstr>
      <vt:lpstr>Which are the important predictors?</vt:lpstr>
      <vt:lpstr>Ideal solution to the variable selection problem</vt:lpstr>
      <vt:lpstr>Reasonable solutions to the variable selection problem</vt:lpstr>
      <vt:lpstr>Forward selection</vt:lpstr>
      <vt:lpstr>Backward selection</vt:lpstr>
      <vt:lpstr>Mixed selection</vt:lpstr>
      <vt:lpstr>Important questions with multiple regression</vt:lpstr>
      <vt:lpstr>Important questions with multiple regression</vt:lpstr>
      <vt:lpstr>Final considerations on regression models</vt:lpstr>
      <vt:lpstr>Final considerations on regression models</vt:lpstr>
      <vt:lpstr>Predictors with 2 levels</vt:lpstr>
      <vt:lpstr>How to code the dummy variable?</vt:lpstr>
      <vt:lpstr>Predictors with 2+ levels</vt:lpstr>
      <vt:lpstr>PowerPoint Presentation</vt:lpstr>
      <vt:lpstr>Final considerations on regression models</vt:lpstr>
      <vt:lpstr>Extending the linear regression</vt:lpstr>
      <vt:lpstr>Removing the additive assumption</vt:lpstr>
      <vt:lpstr>Non-linear relations</vt:lpstr>
      <vt:lpstr>PowerPoint Presentation</vt:lpstr>
      <vt:lpstr>Final considerations on regression models</vt:lpstr>
      <vt:lpstr>Non-linearity of the data</vt:lpstr>
      <vt:lpstr>Linear v. KNN Regression</vt:lpstr>
      <vt:lpstr>Characteristics of KNN regression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Regression</dc:title>
  <dc:creator>Marco Comuzzi</dc:creator>
  <cp:lastModifiedBy>Marco Comuzzi</cp:lastModifiedBy>
  <cp:revision>2</cp:revision>
  <dcterms:created xsi:type="dcterms:W3CDTF">2024-05-31T08:05:20Z</dcterms:created>
  <dcterms:modified xsi:type="dcterms:W3CDTF">2026-09-03T00:45:07Z</dcterms:modified>
</cp:coreProperties>
</file>